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78" r:id="rId8"/>
    <p:sldId id="262" r:id="rId9"/>
    <p:sldId id="263" r:id="rId10"/>
    <p:sldId id="264" r:id="rId11"/>
    <p:sldId id="265" r:id="rId12"/>
    <p:sldId id="266" r:id="rId13"/>
    <p:sldId id="267" r:id="rId14"/>
    <p:sldId id="277" r:id="rId15"/>
    <p:sldId id="268" r:id="rId16"/>
    <p:sldId id="269" r:id="rId17"/>
    <p:sldId id="270" r:id="rId18"/>
    <p:sldId id="271" r:id="rId19"/>
    <p:sldId id="272" r:id="rId20"/>
    <p:sldId id="273" r:id="rId21"/>
    <p:sldId id="274" r:id="rId22"/>
    <p:sldId id="275" r:id="rId23"/>
    <p:sldId id="276"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AC5621E-410A-4E71-AADA-E4184FB467B1}" v="1" dt="2025-12-14T13:45:09.93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91" d="100"/>
          <a:sy n="91" d="100"/>
        </p:scale>
        <p:origin x="322"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722908-E6BB-9DDB-9A66-4505545C0CD7}"/>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F6DBD44-5BBF-4478-FD3A-51FA1D0C3979}"/>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2A0EF0AB-F68A-FE3D-FF49-B1277839114F}"/>
              </a:ext>
            </a:extLst>
          </p:cNvPr>
          <p:cNvSpPr>
            <a:spLocks noGrp="1"/>
          </p:cNvSpPr>
          <p:nvPr>
            <p:ph type="dt" sz="half" idx="10"/>
          </p:nvPr>
        </p:nvSpPr>
        <p:spPr/>
        <p:txBody>
          <a:bodyPr/>
          <a:lstStyle/>
          <a:p>
            <a:fld id="{3E1D45CC-772B-425B-8D6D-EB55FE102ED5}" type="datetimeFigureOut">
              <a:rPr lang="en-US" smtClean="0"/>
              <a:t>12/14/2025</a:t>
            </a:fld>
            <a:endParaRPr lang="en-US"/>
          </a:p>
        </p:txBody>
      </p:sp>
      <p:sp>
        <p:nvSpPr>
          <p:cNvPr id="5" name="Footer Placeholder 4">
            <a:extLst>
              <a:ext uri="{FF2B5EF4-FFF2-40B4-BE49-F238E27FC236}">
                <a16:creationId xmlns:a16="http://schemas.microsoft.com/office/drawing/2014/main" id="{5EEDFBF3-4F05-B8A4-9595-ED8A3C3B554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539B69C-1935-B002-19FA-DE24107A105C}"/>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7145750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A8A66D-ED2C-C102-E479-E8587A8F8D7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7D54B18D-B3CA-A5C9-2F5A-E5BF1D9729F9}"/>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63A6A47-465F-B304-3A44-F58682D5E30C}"/>
              </a:ext>
            </a:extLst>
          </p:cNvPr>
          <p:cNvSpPr>
            <a:spLocks noGrp="1"/>
          </p:cNvSpPr>
          <p:nvPr>
            <p:ph type="dt" sz="half" idx="10"/>
          </p:nvPr>
        </p:nvSpPr>
        <p:spPr/>
        <p:txBody>
          <a:bodyPr/>
          <a:lstStyle/>
          <a:p>
            <a:fld id="{3E1D45CC-772B-425B-8D6D-EB55FE102ED5}" type="datetimeFigureOut">
              <a:rPr lang="en-US" smtClean="0"/>
              <a:t>12/14/2025</a:t>
            </a:fld>
            <a:endParaRPr lang="en-US"/>
          </a:p>
        </p:txBody>
      </p:sp>
      <p:sp>
        <p:nvSpPr>
          <p:cNvPr id="5" name="Footer Placeholder 4">
            <a:extLst>
              <a:ext uri="{FF2B5EF4-FFF2-40B4-BE49-F238E27FC236}">
                <a16:creationId xmlns:a16="http://schemas.microsoft.com/office/drawing/2014/main" id="{09F10461-D7C9-8B7B-064D-710A37CE697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E2D51C5-B580-1150-7C9C-748CC3BE240C}"/>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152086189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AC205A-1800-6DE5-C7B8-378228189EF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29E3C19-E1B6-5750-E761-511CFF08692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612389A-1AB5-A0D1-8621-166B092F90F5}"/>
              </a:ext>
            </a:extLst>
          </p:cNvPr>
          <p:cNvSpPr>
            <a:spLocks noGrp="1"/>
          </p:cNvSpPr>
          <p:nvPr>
            <p:ph type="dt" sz="half" idx="10"/>
          </p:nvPr>
        </p:nvSpPr>
        <p:spPr/>
        <p:txBody>
          <a:bodyPr/>
          <a:lstStyle/>
          <a:p>
            <a:fld id="{3E1D45CC-772B-425B-8D6D-EB55FE102ED5}" type="datetimeFigureOut">
              <a:rPr lang="en-US" smtClean="0"/>
              <a:t>12/14/2025</a:t>
            </a:fld>
            <a:endParaRPr lang="en-US"/>
          </a:p>
        </p:txBody>
      </p:sp>
      <p:sp>
        <p:nvSpPr>
          <p:cNvPr id="5" name="Footer Placeholder 4">
            <a:extLst>
              <a:ext uri="{FF2B5EF4-FFF2-40B4-BE49-F238E27FC236}">
                <a16:creationId xmlns:a16="http://schemas.microsoft.com/office/drawing/2014/main" id="{F9E89F33-175C-742F-8DE9-926C8C6F3BB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23233E6-25B3-FC09-3E6B-44E1449543A4}"/>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9659802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52805-9F4A-7DF9-904B-DC0B18FA7612}"/>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812D7C52-CCD6-9539-791E-A8450578F371}"/>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1743D05E-9361-A0E3-EC06-4C77A6302C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4B42C2CE-277E-B952-0C01-20AAED09C9D9}"/>
              </a:ext>
            </a:extLst>
          </p:cNvPr>
          <p:cNvSpPr>
            <a:spLocks noGrp="1"/>
          </p:cNvSpPr>
          <p:nvPr>
            <p:ph type="dt" sz="half" idx="10"/>
          </p:nvPr>
        </p:nvSpPr>
        <p:spPr/>
        <p:txBody>
          <a:bodyPr/>
          <a:lstStyle/>
          <a:p>
            <a:fld id="{3E1D45CC-772B-425B-8D6D-EB55FE102ED5}" type="datetimeFigureOut">
              <a:rPr lang="en-US" smtClean="0"/>
              <a:t>12/14/2025</a:t>
            </a:fld>
            <a:endParaRPr lang="en-US"/>
          </a:p>
        </p:txBody>
      </p:sp>
      <p:sp>
        <p:nvSpPr>
          <p:cNvPr id="6" name="Footer Placeholder 5">
            <a:extLst>
              <a:ext uri="{FF2B5EF4-FFF2-40B4-BE49-F238E27FC236}">
                <a16:creationId xmlns:a16="http://schemas.microsoft.com/office/drawing/2014/main" id="{3F0B75B1-AE54-5876-38E2-D6D094A6D516}"/>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03467AF-0E0B-FD11-633B-B2D36AC9A5BF}"/>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6711883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380E7-4A18-A1AC-09D1-1E334833D3D1}"/>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38BE5E4-0EBD-9018-F6BD-9F0E4B8874E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03BB1B9-C9EE-5E5A-404E-A510992A61B6}"/>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779E374-3374-B904-BFFF-01A9F1475383}"/>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F87F699F-0054-3BFD-64EA-189F46EA5398}"/>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3E1853FB-F86F-A1AA-01D4-2B0A5F7AE0FB}"/>
              </a:ext>
            </a:extLst>
          </p:cNvPr>
          <p:cNvSpPr>
            <a:spLocks noGrp="1"/>
          </p:cNvSpPr>
          <p:nvPr>
            <p:ph type="dt" sz="half" idx="10"/>
          </p:nvPr>
        </p:nvSpPr>
        <p:spPr/>
        <p:txBody>
          <a:bodyPr/>
          <a:lstStyle/>
          <a:p>
            <a:fld id="{3E1D45CC-772B-425B-8D6D-EB55FE102ED5}" type="datetimeFigureOut">
              <a:rPr lang="en-US" smtClean="0"/>
              <a:t>12/14/2025</a:t>
            </a:fld>
            <a:endParaRPr lang="en-US"/>
          </a:p>
        </p:txBody>
      </p:sp>
      <p:sp>
        <p:nvSpPr>
          <p:cNvPr id="8" name="Footer Placeholder 7">
            <a:extLst>
              <a:ext uri="{FF2B5EF4-FFF2-40B4-BE49-F238E27FC236}">
                <a16:creationId xmlns:a16="http://schemas.microsoft.com/office/drawing/2014/main" id="{55DC23FB-842F-AA11-3A9C-1B579A298B8C}"/>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185300-F1DC-F862-19B3-284D36B885EA}"/>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34442011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796CA2-810B-7944-E504-E8F4884C67E3}"/>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822D0B5B-99E5-FC4E-29CC-7D089A48C67F}"/>
              </a:ext>
            </a:extLst>
          </p:cNvPr>
          <p:cNvSpPr>
            <a:spLocks noGrp="1"/>
          </p:cNvSpPr>
          <p:nvPr>
            <p:ph type="dt" sz="half" idx="10"/>
          </p:nvPr>
        </p:nvSpPr>
        <p:spPr/>
        <p:txBody>
          <a:bodyPr/>
          <a:lstStyle/>
          <a:p>
            <a:fld id="{3E1D45CC-772B-425B-8D6D-EB55FE102ED5}" type="datetimeFigureOut">
              <a:rPr lang="en-US" smtClean="0"/>
              <a:t>12/14/2025</a:t>
            </a:fld>
            <a:endParaRPr lang="en-US"/>
          </a:p>
        </p:txBody>
      </p:sp>
      <p:sp>
        <p:nvSpPr>
          <p:cNvPr id="4" name="Footer Placeholder 3">
            <a:extLst>
              <a:ext uri="{FF2B5EF4-FFF2-40B4-BE49-F238E27FC236}">
                <a16:creationId xmlns:a16="http://schemas.microsoft.com/office/drawing/2014/main" id="{2E56EB6C-EDDD-0C7E-9711-790B4C9A1970}"/>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427FEB7A-3F83-E912-9E84-55FAF1402987}"/>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122848461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585E1844-DC65-7522-72C6-74EBB98F6D5A}"/>
              </a:ext>
            </a:extLst>
          </p:cNvPr>
          <p:cNvSpPr>
            <a:spLocks noGrp="1"/>
          </p:cNvSpPr>
          <p:nvPr>
            <p:ph type="dt" sz="half" idx="10"/>
          </p:nvPr>
        </p:nvSpPr>
        <p:spPr/>
        <p:txBody>
          <a:bodyPr/>
          <a:lstStyle/>
          <a:p>
            <a:fld id="{3E1D45CC-772B-425B-8D6D-EB55FE102ED5}" type="datetimeFigureOut">
              <a:rPr lang="en-US" smtClean="0"/>
              <a:t>12/14/2025</a:t>
            </a:fld>
            <a:endParaRPr lang="en-US"/>
          </a:p>
        </p:txBody>
      </p:sp>
      <p:sp>
        <p:nvSpPr>
          <p:cNvPr id="3" name="Footer Placeholder 2">
            <a:extLst>
              <a:ext uri="{FF2B5EF4-FFF2-40B4-BE49-F238E27FC236}">
                <a16:creationId xmlns:a16="http://schemas.microsoft.com/office/drawing/2014/main" id="{578400BC-A84F-0289-EBB7-A7A8449C8A72}"/>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8C30534-EC81-24C2-DC70-D9025FDF3102}"/>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36796226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C91C79-2704-16DA-868C-21BC2404932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1D7803A3-74FD-7C34-A158-68D426F47F4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937336F8-3FB3-5FB5-A6C3-C36768D7948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B0044E44-0F29-442A-6122-33B92C0E9C5B}"/>
              </a:ext>
            </a:extLst>
          </p:cNvPr>
          <p:cNvSpPr>
            <a:spLocks noGrp="1"/>
          </p:cNvSpPr>
          <p:nvPr>
            <p:ph type="dt" sz="half" idx="10"/>
          </p:nvPr>
        </p:nvSpPr>
        <p:spPr/>
        <p:txBody>
          <a:bodyPr/>
          <a:lstStyle/>
          <a:p>
            <a:fld id="{3E1D45CC-772B-425B-8D6D-EB55FE102ED5}" type="datetimeFigureOut">
              <a:rPr lang="en-US" smtClean="0"/>
              <a:t>12/14/2025</a:t>
            </a:fld>
            <a:endParaRPr lang="en-US"/>
          </a:p>
        </p:txBody>
      </p:sp>
      <p:sp>
        <p:nvSpPr>
          <p:cNvPr id="6" name="Footer Placeholder 5">
            <a:extLst>
              <a:ext uri="{FF2B5EF4-FFF2-40B4-BE49-F238E27FC236}">
                <a16:creationId xmlns:a16="http://schemas.microsoft.com/office/drawing/2014/main" id="{CE2BE7DD-E512-7EAD-97C8-2093BF5A9AFF}"/>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0405F0E-71BB-F92B-B919-AE7B7AC39B97}"/>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3411963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B4A3BD-809F-E980-1707-18D230210016}"/>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5A30697E-652D-1B7E-3EAF-E7AC737F85E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C978C4CE-CE40-1B92-C320-F4E880318F5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39E4C91-7131-D7B6-04A1-63C33C2AE265}"/>
              </a:ext>
            </a:extLst>
          </p:cNvPr>
          <p:cNvSpPr>
            <a:spLocks noGrp="1"/>
          </p:cNvSpPr>
          <p:nvPr>
            <p:ph type="dt" sz="half" idx="10"/>
          </p:nvPr>
        </p:nvSpPr>
        <p:spPr/>
        <p:txBody>
          <a:bodyPr/>
          <a:lstStyle/>
          <a:p>
            <a:fld id="{3E1D45CC-772B-425B-8D6D-EB55FE102ED5}" type="datetimeFigureOut">
              <a:rPr lang="en-US" smtClean="0"/>
              <a:t>12/14/2025</a:t>
            </a:fld>
            <a:endParaRPr lang="en-US"/>
          </a:p>
        </p:txBody>
      </p:sp>
      <p:sp>
        <p:nvSpPr>
          <p:cNvPr id="6" name="Footer Placeholder 5">
            <a:extLst>
              <a:ext uri="{FF2B5EF4-FFF2-40B4-BE49-F238E27FC236}">
                <a16:creationId xmlns:a16="http://schemas.microsoft.com/office/drawing/2014/main" id="{8BB08526-9AB4-D0B1-9F24-033285C312B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5DD83A-95D9-681A-179A-EC69404D7E60}"/>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366027914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F24C00-88B6-7D0A-D194-CCA1FE5A02FB}"/>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5A580AB-0A73-74E4-CD3F-CB98274DDB0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C3512EF-CEEB-EF6E-A632-49702C04DA9E}"/>
              </a:ext>
            </a:extLst>
          </p:cNvPr>
          <p:cNvSpPr>
            <a:spLocks noGrp="1"/>
          </p:cNvSpPr>
          <p:nvPr>
            <p:ph type="dt" sz="half" idx="10"/>
          </p:nvPr>
        </p:nvSpPr>
        <p:spPr/>
        <p:txBody>
          <a:bodyPr/>
          <a:lstStyle/>
          <a:p>
            <a:fld id="{3E1D45CC-772B-425B-8D6D-EB55FE102ED5}" type="datetimeFigureOut">
              <a:rPr lang="en-US" smtClean="0"/>
              <a:t>12/14/2025</a:t>
            </a:fld>
            <a:endParaRPr lang="en-US"/>
          </a:p>
        </p:txBody>
      </p:sp>
      <p:sp>
        <p:nvSpPr>
          <p:cNvPr id="5" name="Footer Placeholder 4">
            <a:extLst>
              <a:ext uri="{FF2B5EF4-FFF2-40B4-BE49-F238E27FC236}">
                <a16:creationId xmlns:a16="http://schemas.microsoft.com/office/drawing/2014/main" id="{C659C7C5-11ED-EDCE-9262-FF65752130F2}"/>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9E006DB-98A7-4CA5-EEEF-4B018674B628}"/>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146990403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27D97B1-3A75-0476-1270-A8C567C13A9D}"/>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9AA9AEC-A08C-0574-A856-FA9F3CB5A1B3}"/>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5F4250A-E015-80E7-053E-DA841B6BAAB3}"/>
              </a:ext>
            </a:extLst>
          </p:cNvPr>
          <p:cNvSpPr>
            <a:spLocks noGrp="1"/>
          </p:cNvSpPr>
          <p:nvPr>
            <p:ph type="dt" sz="half" idx="10"/>
          </p:nvPr>
        </p:nvSpPr>
        <p:spPr/>
        <p:txBody>
          <a:bodyPr/>
          <a:lstStyle/>
          <a:p>
            <a:fld id="{3E1D45CC-772B-425B-8D6D-EB55FE102ED5}" type="datetimeFigureOut">
              <a:rPr lang="en-US" smtClean="0"/>
              <a:t>12/14/2025</a:t>
            </a:fld>
            <a:endParaRPr lang="en-US"/>
          </a:p>
        </p:txBody>
      </p:sp>
      <p:sp>
        <p:nvSpPr>
          <p:cNvPr id="5" name="Footer Placeholder 4">
            <a:extLst>
              <a:ext uri="{FF2B5EF4-FFF2-40B4-BE49-F238E27FC236}">
                <a16:creationId xmlns:a16="http://schemas.microsoft.com/office/drawing/2014/main" id="{024064A7-0559-F95E-4791-E1BFC16FCB6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5C0F83A-E2A2-7191-2AE1-BECC80D33192}"/>
              </a:ext>
            </a:extLst>
          </p:cNvPr>
          <p:cNvSpPr>
            <a:spLocks noGrp="1"/>
          </p:cNvSpPr>
          <p:nvPr>
            <p:ph type="sldNum" sz="quarter" idx="12"/>
          </p:nvPr>
        </p:nvSpPr>
        <p:spPr/>
        <p:txBody>
          <a:bodyPr/>
          <a:lstStyle/>
          <a:p>
            <a:fld id="{F7FA4C89-FC2B-4715-800B-9EE74040CA30}" type="slidenum">
              <a:rPr lang="en-US" smtClean="0"/>
              <a:t>‹#›</a:t>
            </a:fld>
            <a:endParaRPr lang="en-US"/>
          </a:p>
        </p:txBody>
      </p:sp>
    </p:spTree>
    <p:extLst>
      <p:ext uri="{BB962C8B-B14F-4D97-AF65-F5344CB8AC3E}">
        <p14:creationId xmlns:p14="http://schemas.microsoft.com/office/powerpoint/2010/main" val="42219738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491C954-861C-AC35-A4C0-D7B09AB4042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83F3BAA-DD43-84F4-587B-093D069F8FD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9DBD0C0D-B46F-DBB9-772E-98AC0637E63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3E1D45CC-772B-425B-8D6D-EB55FE102ED5}" type="datetimeFigureOut">
              <a:rPr lang="en-US" smtClean="0"/>
              <a:t>12/14/2025</a:t>
            </a:fld>
            <a:endParaRPr lang="en-US"/>
          </a:p>
        </p:txBody>
      </p:sp>
      <p:sp>
        <p:nvSpPr>
          <p:cNvPr id="5" name="Footer Placeholder 4">
            <a:extLst>
              <a:ext uri="{FF2B5EF4-FFF2-40B4-BE49-F238E27FC236}">
                <a16:creationId xmlns:a16="http://schemas.microsoft.com/office/drawing/2014/main" id="{6FE2E119-2D91-F7C4-555F-22517CBC5F0D}"/>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4737A376-2409-A3AF-8F67-8D9F36C6FC55}"/>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F7FA4C89-FC2B-4715-800B-9EE74040CA30}" type="slidenum">
              <a:rPr lang="en-US" smtClean="0"/>
              <a:t>‹#›</a:t>
            </a:fld>
            <a:endParaRPr lang="en-US"/>
          </a:p>
        </p:txBody>
      </p:sp>
    </p:spTree>
    <p:extLst>
      <p:ext uri="{BB962C8B-B14F-4D97-AF65-F5344CB8AC3E}">
        <p14:creationId xmlns:p14="http://schemas.microsoft.com/office/powerpoint/2010/main" val="34846843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6.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image" Target="../media/image6.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8.jp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jpg"/><Relationship Id="rId1" Type="http://schemas.openxmlformats.org/officeDocument/2006/relationships/slideLayout" Target="../slideLayouts/slideLayout2.xml"/><Relationship Id="rId5" Type="http://schemas.openxmlformats.org/officeDocument/2006/relationships/hyperlink" Target="https://verdant-lamington-654a01.netlify.app/" TargetMode="External"/><Relationship Id="rId4" Type="http://schemas.openxmlformats.org/officeDocument/2006/relationships/image" Target="../media/image10.jpeg"/></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11.emf"/></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0C73206-5360-2568-E475-3834883DF342}"/>
              </a:ext>
            </a:extLst>
          </p:cNvPr>
          <p:cNvSpPr>
            <a:spLocks noGrp="1"/>
          </p:cNvSpPr>
          <p:nvPr>
            <p:ph type="ctrTitle"/>
          </p:nvPr>
        </p:nvSpPr>
        <p:spPr>
          <a:xfrm>
            <a:off x="1107440" y="248920"/>
            <a:ext cx="6898547" cy="1590040"/>
          </a:xfrm>
          <a:ln>
            <a:solidFill>
              <a:schemeClr val="tx1"/>
            </a:solidFill>
          </a:ln>
        </p:spPr>
        <p:txBody>
          <a:bodyPr>
            <a:normAutofit fontScale="90000"/>
          </a:bodyPr>
          <a:lstStyle/>
          <a:p>
            <a:r>
              <a:rPr lang="en-US" sz="2000" dirty="0">
                <a:solidFill>
                  <a:srgbClr val="FF0000"/>
                </a:solidFill>
              </a:rPr>
              <a:t>HOLY MARY INSTITUTE OF TECHNOLOGY AND SCIENCE</a:t>
            </a:r>
            <a:br>
              <a:rPr lang="en-US" sz="2000" dirty="0"/>
            </a:br>
            <a:r>
              <a:rPr lang="en-US" sz="1800" dirty="0">
                <a:solidFill>
                  <a:schemeClr val="accent1">
                    <a:lumMod val="75000"/>
                  </a:schemeClr>
                </a:solidFill>
              </a:rPr>
              <a:t>UGC-AUTONOMOUS, Accredited by NAAC – A Grade  </a:t>
            </a:r>
            <a:br>
              <a:rPr lang="en-US" sz="1800" dirty="0"/>
            </a:br>
            <a:br>
              <a:rPr lang="en-US" sz="1800" dirty="0"/>
            </a:br>
            <a:r>
              <a:rPr lang="en-US" sz="1800" dirty="0"/>
              <a:t>AICTE, Recognized by UGC Under section 2(f) &amp; 12(B), permanently</a:t>
            </a:r>
            <a:br>
              <a:rPr lang="en-US" sz="1800" dirty="0"/>
            </a:br>
            <a:r>
              <a:rPr lang="en-US" sz="1800" dirty="0"/>
              <a:t>Affiliated to JNTUH</a:t>
            </a:r>
            <a:br>
              <a:rPr lang="en-US" sz="1800" dirty="0"/>
            </a:br>
            <a:endParaRPr lang="en-US" sz="1800" dirty="0"/>
          </a:p>
        </p:txBody>
      </p:sp>
      <p:sp>
        <p:nvSpPr>
          <p:cNvPr id="3" name="Subtitle 2">
            <a:extLst>
              <a:ext uri="{FF2B5EF4-FFF2-40B4-BE49-F238E27FC236}">
                <a16:creationId xmlns:a16="http://schemas.microsoft.com/office/drawing/2014/main" id="{9FA6DD7E-EDD8-3319-E4E9-96EEDBF1A67C}"/>
              </a:ext>
            </a:extLst>
          </p:cNvPr>
          <p:cNvSpPr>
            <a:spLocks noGrp="1"/>
          </p:cNvSpPr>
          <p:nvPr>
            <p:ph type="subTitle" idx="1"/>
          </p:nvPr>
        </p:nvSpPr>
        <p:spPr>
          <a:xfrm>
            <a:off x="1107441" y="1838960"/>
            <a:ext cx="6898546" cy="1239520"/>
          </a:xfrm>
          <a:ln>
            <a:solidFill>
              <a:schemeClr val="tx1"/>
            </a:solidFill>
          </a:ln>
        </p:spPr>
        <p:txBody>
          <a:bodyPr>
            <a:normAutofit/>
          </a:bodyPr>
          <a:lstStyle/>
          <a:p>
            <a:r>
              <a:rPr lang="en-US" sz="2000" dirty="0"/>
              <a:t>HITS EDC (Entrepreneur Development Cell)</a:t>
            </a:r>
          </a:p>
          <a:p>
            <a:r>
              <a:rPr lang="en-US" sz="2000" dirty="0"/>
              <a:t>EDC InCharge : Dr.E.Krishna Hari Sir</a:t>
            </a:r>
          </a:p>
          <a:p>
            <a:r>
              <a:rPr lang="en-US" sz="2000" dirty="0"/>
              <a:t>Corporate Relation Incharge HITS EDC : Samson Sir</a:t>
            </a:r>
          </a:p>
        </p:txBody>
      </p:sp>
      <p:sp>
        <p:nvSpPr>
          <p:cNvPr id="5" name="Rectangle 4">
            <a:extLst>
              <a:ext uri="{FF2B5EF4-FFF2-40B4-BE49-F238E27FC236}">
                <a16:creationId xmlns:a16="http://schemas.microsoft.com/office/drawing/2014/main" id="{A2F54BBB-B9CE-51A5-9EB6-D951361ABB3F}"/>
              </a:ext>
            </a:extLst>
          </p:cNvPr>
          <p:cNvSpPr/>
          <p:nvPr/>
        </p:nvSpPr>
        <p:spPr>
          <a:xfrm>
            <a:off x="8473347" y="248920"/>
            <a:ext cx="2428333" cy="282956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a:extLst>
              <a:ext uri="{FF2B5EF4-FFF2-40B4-BE49-F238E27FC236}">
                <a16:creationId xmlns:a16="http://schemas.microsoft.com/office/drawing/2014/main" id="{39576057-B4E9-E7BA-6280-D9DCA41BA5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31386" y="248920"/>
            <a:ext cx="3312253" cy="2829560"/>
          </a:xfrm>
          <a:prstGeom prst="rect">
            <a:avLst/>
          </a:prstGeom>
          <a:ln>
            <a:solidFill>
              <a:schemeClr val="tx1"/>
            </a:solidFill>
          </a:ln>
        </p:spPr>
      </p:pic>
      <p:sp>
        <p:nvSpPr>
          <p:cNvPr id="10" name="TextBox 9">
            <a:extLst>
              <a:ext uri="{FF2B5EF4-FFF2-40B4-BE49-F238E27FC236}">
                <a16:creationId xmlns:a16="http://schemas.microsoft.com/office/drawing/2014/main" id="{DCE3E8BB-BAED-ABC4-B899-71B85A5A4DBA}"/>
              </a:ext>
            </a:extLst>
          </p:cNvPr>
          <p:cNvSpPr txBox="1"/>
          <p:nvPr/>
        </p:nvSpPr>
        <p:spPr>
          <a:xfrm>
            <a:off x="955040" y="3244334"/>
            <a:ext cx="10830560" cy="2616101"/>
          </a:xfrm>
          <a:prstGeom prst="rect">
            <a:avLst/>
          </a:prstGeom>
          <a:noFill/>
        </p:spPr>
        <p:txBody>
          <a:bodyPr wrap="square" rtlCol="0">
            <a:spAutoFit/>
          </a:bodyPr>
          <a:lstStyle/>
          <a:p>
            <a:r>
              <a:rPr lang="en-US" sz="2000" dirty="0"/>
              <a:t>PROJECT TITLE           :  A Technology – Driven Solution For Food Waste And Hunger Management </a:t>
            </a:r>
          </a:p>
          <a:p>
            <a:r>
              <a:rPr lang="en-US" dirty="0"/>
              <a:t>  </a:t>
            </a:r>
          </a:p>
          <a:p>
            <a:r>
              <a:rPr lang="en-US" dirty="0"/>
              <a:t>PS CATEGORY                :  Software</a:t>
            </a:r>
          </a:p>
          <a:p>
            <a:endParaRPr lang="en-US" dirty="0"/>
          </a:p>
          <a:p>
            <a:r>
              <a:rPr lang="en-US" dirty="0"/>
              <a:t>NAME                             :  E. Durga Prasad</a:t>
            </a:r>
          </a:p>
          <a:p>
            <a:endParaRPr lang="en-US" dirty="0"/>
          </a:p>
          <a:p>
            <a:r>
              <a:rPr lang="en-US" dirty="0"/>
              <a:t>ROLL NUMBER              :  22C91A0557</a:t>
            </a:r>
          </a:p>
          <a:p>
            <a:endParaRPr lang="en-US" dirty="0"/>
          </a:p>
          <a:p>
            <a:r>
              <a:rPr lang="en-US" dirty="0"/>
              <a:t>YEAR &amp; BRANCH           :  4 th &amp; CSE</a:t>
            </a:r>
          </a:p>
        </p:txBody>
      </p:sp>
    </p:spTree>
    <p:extLst>
      <p:ext uri="{BB962C8B-B14F-4D97-AF65-F5344CB8AC3E}">
        <p14:creationId xmlns:p14="http://schemas.microsoft.com/office/powerpoint/2010/main" val="18729592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25A918F-A7FC-F12D-C4B7-6B730291B564}"/>
              </a:ext>
            </a:extLst>
          </p:cNvPr>
          <p:cNvSpPr>
            <a:spLocks noGrp="1"/>
          </p:cNvSpPr>
          <p:nvPr>
            <p:ph idx="1"/>
          </p:nvPr>
        </p:nvSpPr>
        <p:spPr>
          <a:xfrm>
            <a:off x="584200" y="276837"/>
            <a:ext cx="10515600" cy="6368438"/>
          </a:xfrm>
          <a:ln>
            <a:solidFill>
              <a:schemeClr val="tx1"/>
            </a:solidFill>
          </a:ln>
        </p:spPr>
        <p:txBody>
          <a:bodyPr>
            <a:normAutofit/>
          </a:bodyPr>
          <a:lstStyle/>
          <a:p>
            <a:pPr marL="0" indent="0" algn="just">
              <a:buNone/>
            </a:pPr>
            <a:r>
              <a:rPr lang="en-US" sz="1800" dirty="0"/>
              <a:t>                                                                    </a:t>
            </a:r>
          </a:p>
          <a:p>
            <a:pPr marL="0" indent="0" algn="just">
              <a:buNone/>
            </a:pPr>
            <a:r>
              <a:rPr lang="en-US" sz="1800" b="1" dirty="0">
                <a:solidFill>
                  <a:schemeClr val="accent1"/>
                </a:solidFill>
              </a:rPr>
              <a:t>                                                                         </a:t>
            </a:r>
            <a:r>
              <a:rPr lang="en-US" b="1" dirty="0">
                <a:solidFill>
                  <a:schemeClr val="accent1"/>
                </a:solidFill>
              </a:rPr>
              <a:t>INTRODUCTION</a:t>
            </a:r>
            <a:r>
              <a:rPr lang="en-US" b="1" dirty="0"/>
              <a:t> </a:t>
            </a:r>
            <a:r>
              <a:rPr lang="en-US" sz="2400" b="1" dirty="0"/>
              <a:t> </a:t>
            </a:r>
            <a:r>
              <a:rPr lang="en-US" sz="1800" b="1" dirty="0"/>
              <a:t>         </a:t>
            </a:r>
            <a:r>
              <a:rPr lang="en-US" sz="1800" dirty="0"/>
              <a:t>                                                                                                                                                                                                                                                                                                                                                                </a:t>
            </a:r>
          </a:p>
          <a:p>
            <a:pPr marL="0" indent="0" algn="just">
              <a:buNone/>
            </a:pPr>
            <a:endParaRPr lang="en-US" sz="1800" dirty="0"/>
          </a:p>
          <a:p>
            <a:pPr marL="0" indent="0" algn="just">
              <a:buNone/>
            </a:pPr>
            <a:r>
              <a:rPr lang="en-US" sz="1800" dirty="0"/>
              <a:t>Food wastage and hunger are two interconnected global and national issues that continue to affect millions of people every day. On one side, a significant amount of edible food is wasted at restaurants, weddings, hostels, supermarkets, and households due to overproduction, improper planning, and lack of redistribution mechanisms. On the other side, a large section of the population struggles with food insecurity, malnutrition, and irregular access to nutritious meals. This contrast highlights that the core problem lies not in food scarcity, but in inefficient food management and distribution. The Food Wastage and Hunger Management App is designed as a technology-driven solution to bridge the gap between surplus food and people in need. The platform enables food donors to quickly report excess food along with details such as quantity, location, and time, while NGOs, shelters, and volunteers can access this information in real time and arrange timely collection and distribution. By using location-based matching and efficient coordination, the app ensures that safe, edible food reaches the right beneficiaries before it goes to waste. This initiative promotes sustainability, social responsibility, and entrepreneurship by transforming food redistribution into an organized and scalable system. The app not only reduces food wastage and supports hunger relief but also creates opportunities for collaboration among communities, institutions, and social organizations. Through the effective use of technology, this solution aims to generate meaningful social impact while aligning with the objectives of the Entrepreneurship Development Cell.</a:t>
            </a:r>
          </a:p>
        </p:txBody>
      </p:sp>
      <p:pic>
        <p:nvPicPr>
          <p:cNvPr id="5" name="Picture 4">
            <a:extLst>
              <a:ext uri="{FF2B5EF4-FFF2-40B4-BE49-F238E27FC236}">
                <a16:creationId xmlns:a16="http://schemas.microsoft.com/office/drawing/2014/main" id="{36162C4A-C02A-5508-66C7-E05F7E04DC0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042400" y="355600"/>
            <a:ext cx="1910080" cy="1127760"/>
          </a:xfrm>
          <a:prstGeom prst="rect">
            <a:avLst/>
          </a:prstGeom>
        </p:spPr>
      </p:pic>
    </p:spTree>
    <p:extLst>
      <p:ext uri="{BB962C8B-B14F-4D97-AF65-F5344CB8AC3E}">
        <p14:creationId xmlns:p14="http://schemas.microsoft.com/office/powerpoint/2010/main" val="41000350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A95156-7BC7-7822-D718-22ECB7035957}"/>
              </a:ext>
            </a:extLst>
          </p:cNvPr>
          <p:cNvSpPr>
            <a:spLocks noGrp="1"/>
          </p:cNvSpPr>
          <p:nvPr>
            <p:ph idx="1"/>
          </p:nvPr>
        </p:nvSpPr>
        <p:spPr>
          <a:xfrm>
            <a:off x="706120" y="284480"/>
            <a:ext cx="10515600" cy="6166803"/>
          </a:xfrm>
          <a:ln>
            <a:solidFill>
              <a:schemeClr val="tx1"/>
            </a:solidFill>
          </a:ln>
        </p:spPr>
        <p:txBody>
          <a:bodyPr/>
          <a:lstStyle/>
          <a:p>
            <a:pPr marL="0" indent="0">
              <a:buNone/>
            </a:pPr>
            <a:r>
              <a:rPr lang="en-US" dirty="0"/>
              <a:t>                                 </a:t>
            </a:r>
          </a:p>
          <a:p>
            <a:pPr marL="0" indent="0">
              <a:buNone/>
            </a:pPr>
            <a:r>
              <a:rPr lang="en-US" dirty="0"/>
              <a:t>                                         </a:t>
            </a:r>
            <a:r>
              <a:rPr lang="en-US" b="1" dirty="0">
                <a:solidFill>
                  <a:schemeClr val="accent1"/>
                </a:solidFill>
              </a:rPr>
              <a:t>PROBLEM STATEMENT</a:t>
            </a:r>
          </a:p>
        </p:txBody>
      </p:sp>
      <p:pic>
        <p:nvPicPr>
          <p:cNvPr id="6" name="Picture 5">
            <a:extLst>
              <a:ext uri="{FF2B5EF4-FFF2-40B4-BE49-F238E27FC236}">
                <a16:creationId xmlns:a16="http://schemas.microsoft.com/office/drawing/2014/main" id="{2D013CAC-B68C-6511-7E8D-59347EE938E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103360" y="406717"/>
            <a:ext cx="1762760" cy="1188403"/>
          </a:xfrm>
          <a:prstGeom prst="rect">
            <a:avLst/>
          </a:prstGeom>
        </p:spPr>
      </p:pic>
      <p:sp>
        <p:nvSpPr>
          <p:cNvPr id="8" name="TextBox 7">
            <a:extLst>
              <a:ext uri="{FF2B5EF4-FFF2-40B4-BE49-F238E27FC236}">
                <a16:creationId xmlns:a16="http://schemas.microsoft.com/office/drawing/2014/main" id="{9B18D12D-E1BB-BA18-F56B-93AA80E8E040}"/>
              </a:ext>
            </a:extLst>
          </p:cNvPr>
          <p:cNvSpPr txBox="1"/>
          <p:nvPr/>
        </p:nvSpPr>
        <p:spPr>
          <a:xfrm>
            <a:off x="787400" y="1947458"/>
            <a:ext cx="10353040" cy="3970318"/>
          </a:xfrm>
          <a:prstGeom prst="rect">
            <a:avLst/>
          </a:prstGeom>
          <a:noFill/>
        </p:spPr>
        <p:txBody>
          <a:bodyPr wrap="square">
            <a:spAutoFit/>
          </a:bodyPr>
          <a:lstStyle/>
          <a:p>
            <a:pPr algn="just"/>
            <a:r>
              <a:rPr lang="en-US" dirty="0"/>
              <a:t>Food wastage and hunger continue to exist as two major and interconnected social challenges in today’s society. Every day, a large amount of freshly prepared and edible food is wasted at restaurants, marriage halls, corporate events, hostels, supermarkets, and even households due to overproduction, inaccurate demand estimation, and lack of awareness about redistribution options. Most of this surplus food is disposed of as waste, contributing to environmental pollution and economic loss. At the same time, millions of people, especially underprivileged communities, daily wage workers, homeless individuals, and people in shelters, struggle to access sufficient and nutritious food. Despite the availability of surplus food, the absence of a structured and reliable mechanism prevents timely distribution to those in need. Existing donation methods are mostly informal, unorganized, and dependent on manual communication, which often results in delays, food spoilage, and safety concerns. The core problem lies in the lack of a unified, technology-based platform that can efficiently connect food donors, NGOs, volunteers, and beneficiaries in real time. Without proper coordination, location-based matching, and accountability, valuable food resources continue to go to waste while hunger persists. This situation highlights a critical need for an innovative, scalable, and sustainable solution that can manage surplus food effectively and ensure equitable food distribution.</a:t>
            </a:r>
          </a:p>
        </p:txBody>
      </p:sp>
      <p:pic>
        <p:nvPicPr>
          <p:cNvPr id="2" name="Picture 1">
            <a:extLst>
              <a:ext uri="{FF2B5EF4-FFF2-40B4-BE49-F238E27FC236}">
                <a16:creationId xmlns:a16="http://schemas.microsoft.com/office/drawing/2014/main" id="{67645647-0E71-E6EB-2793-E0AF79792B4C}"/>
              </a:ext>
            </a:extLst>
          </p:cNvPr>
          <p:cNvPicPr>
            <a:picLocks noChangeAspect="1"/>
          </p:cNvPicPr>
          <p:nvPr/>
        </p:nvPicPr>
        <p:blipFill>
          <a:blip r:embed="rId3"/>
          <a:stretch>
            <a:fillRect/>
          </a:stretch>
        </p:blipFill>
        <p:spPr>
          <a:xfrm>
            <a:off x="872455" y="520117"/>
            <a:ext cx="2768368" cy="1427341"/>
          </a:xfrm>
          <a:prstGeom prst="rect">
            <a:avLst/>
          </a:prstGeom>
        </p:spPr>
      </p:pic>
    </p:spTree>
    <p:extLst>
      <p:ext uri="{BB962C8B-B14F-4D97-AF65-F5344CB8AC3E}">
        <p14:creationId xmlns:p14="http://schemas.microsoft.com/office/powerpoint/2010/main" val="22407594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CA87BF-09C9-0543-D8E9-8C3721045936}"/>
              </a:ext>
            </a:extLst>
          </p:cNvPr>
          <p:cNvSpPr>
            <a:spLocks noGrp="1"/>
          </p:cNvSpPr>
          <p:nvPr>
            <p:ph idx="1"/>
          </p:nvPr>
        </p:nvSpPr>
        <p:spPr>
          <a:xfrm>
            <a:off x="838200" y="343949"/>
            <a:ext cx="10515600" cy="5925293"/>
          </a:xfrm>
          <a:ln>
            <a:solidFill>
              <a:schemeClr val="tx1"/>
            </a:solidFill>
          </a:ln>
        </p:spPr>
        <p:txBody>
          <a:bodyPr/>
          <a:lstStyle/>
          <a:p>
            <a:pPr marL="0" indent="0">
              <a:buNone/>
            </a:pPr>
            <a:endParaRPr lang="en-US" dirty="0"/>
          </a:p>
          <a:p>
            <a:pPr marL="0" indent="0">
              <a:buNone/>
            </a:pPr>
            <a:r>
              <a:rPr lang="en-US" b="1" dirty="0"/>
              <a:t>                                              </a:t>
            </a:r>
            <a:r>
              <a:rPr lang="en-US" b="1" dirty="0">
                <a:solidFill>
                  <a:schemeClr val="accent1"/>
                </a:solidFill>
              </a:rPr>
              <a:t>MARKET GAP</a:t>
            </a:r>
          </a:p>
        </p:txBody>
      </p:sp>
      <p:pic>
        <p:nvPicPr>
          <p:cNvPr id="5" name="Picture 4">
            <a:extLst>
              <a:ext uri="{FF2B5EF4-FFF2-40B4-BE49-F238E27FC236}">
                <a16:creationId xmlns:a16="http://schemas.microsoft.com/office/drawing/2014/main" id="{03C7C1A3-E2E3-BE85-B58E-6A5EA885297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286612" y="437756"/>
            <a:ext cx="1837189" cy="1199626"/>
          </a:xfrm>
          <a:prstGeom prst="rect">
            <a:avLst/>
          </a:prstGeom>
        </p:spPr>
      </p:pic>
      <p:sp>
        <p:nvSpPr>
          <p:cNvPr id="7" name="TextBox 6">
            <a:extLst>
              <a:ext uri="{FF2B5EF4-FFF2-40B4-BE49-F238E27FC236}">
                <a16:creationId xmlns:a16="http://schemas.microsoft.com/office/drawing/2014/main" id="{891295CC-0A6E-2404-0A1C-285D28A56AE6}"/>
              </a:ext>
            </a:extLst>
          </p:cNvPr>
          <p:cNvSpPr txBox="1"/>
          <p:nvPr/>
        </p:nvSpPr>
        <p:spPr>
          <a:xfrm>
            <a:off x="922789" y="2124798"/>
            <a:ext cx="10335237" cy="3693319"/>
          </a:xfrm>
          <a:prstGeom prst="rect">
            <a:avLst/>
          </a:prstGeom>
          <a:noFill/>
        </p:spPr>
        <p:txBody>
          <a:bodyPr wrap="square">
            <a:spAutoFit/>
          </a:bodyPr>
          <a:lstStyle/>
          <a:p>
            <a:pPr marL="342900" indent="-342900" algn="just">
              <a:buAutoNum type="arabicPeriod"/>
            </a:pPr>
            <a:r>
              <a:rPr lang="en-US" b="1" dirty="0"/>
              <a:t>Excess Food Going to Waste </a:t>
            </a:r>
            <a:r>
              <a:rPr lang="en-US" dirty="0"/>
              <a:t>: Restaurants, events, and households generate tons of edible food daily that ends up in landfills . Current disposal methods are inefficient, causing economic loss and environmental harm.</a:t>
            </a:r>
          </a:p>
          <a:p>
            <a:pPr marL="342900" indent="-342900" algn="just">
              <a:buAutoNum type="arabicPeriod"/>
            </a:pPr>
            <a:r>
              <a:rPr lang="en-US" b="1" dirty="0"/>
              <a:t>Lack of Efficient Food Redistribution </a:t>
            </a:r>
            <a:r>
              <a:rPr lang="en-US" dirty="0"/>
              <a:t>: No centralized platform connects food donors with those in need . NGOs and volunteers often rely on manual coordination, which is time-consuming and limits reach.</a:t>
            </a:r>
          </a:p>
          <a:p>
            <a:pPr marL="342900" indent="-342900" algn="just">
              <a:buAutoNum type="arabicPeriod"/>
            </a:pPr>
            <a:r>
              <a:rPr lang="en-US" b="1" dirty="0"/>
              <a:t>Limited Awareness Among Donors </a:t>
            </a:r>
            <a:r>
              <a:rPr lang="en-US" dirty="0"/>
              <a:t>: Many people are unaware of how to donate leftover food safely . Fear of legal issues or hygiene concerns prevents donations.</a:t>
            </a:r>
          </a:p>
          <a:p>
            <a:pPr marL="342900" indent="-342900" algn="just">
              <a:buAutoNum type="arabicPeriod"/>
            </a:pPr>
            <a:r>
              <a:rPr lang="en-US" b="1" dirty="0"/>
              <a:t>Hunger &amp; Food Insecurity </a:t>
            </a:r>
            <a:r>
              <a:rPr lang="en-US" dirty="0"/>
              <a:t>: Millions of people, especially in urban and semi-urban areas, face irregular access to nutritious food . Existing charity mechanisms are fragmented and cannot handle sudden surges in demand.</a:t>
            </a:r>
          </a:p>
          <a:p>
            <a:pPr marL="342900" indent="-342900" algn="just">
              <a:buAutoNum type="arabicPeriod"/>
            </a:pPr>
            <a:r>
              <a:rPr lang="en-US" b="1" dirty="0"/>
              <a:t>Technology Gap </a:t>
            </a:r>
            <a:r>
              <a:rPr lang="en-US" dirty="0"/>
              <a:t>: While food delivery apps exist, none focus on connecting surplus food directly to those who need it in real-time . There is an opportunity for a mobile solution that streamlines the donation and distribution process.</a:t>
            </a:r>
          </a:p>
        </p:txBody>
      </p:sp>
    </p:spTree>
    <p:extLst>
      <p:ext uri="{BB962C8B-B14F-4D97-AF65-F5344CB8AC3E}">
        <p14:creationId xmlns:p14="http://schemas.microsoft.com/office/powerpoint/2010/main" val="227670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0820CE0-6ABB-0A44-6715-666BE70C1AE8}"/>
              </a:ext>
            </a:extLst>
          </p:cNvPr>
          <p:cNvSpPr>
            <a:spLocks noGrp="1"/>
          </p:cNvSpPr>
          <p:nvPr>
            <p:ph idx="1"/>
          </p:nvPr>
        </p:nvSpPr>
        <p:spPr>
          <a:xfrm>
            <a:off x="703976" y="327171"/>
            <a:ext cx="10515600" cy="5984016"/>
          </a:xfrm>
          <a:ln>
            <a:solidFill>
              <a:schemeClr val="tx1"/>
            </a:solidFill>
          </a:ln>
        </p:spPr>
        <p:txBody>
          <a:bodyPr/>
          <a:lstStyle/>
          <a:p>
            <a:pPr marL="0" indent="0">
              <a:buNone/>
            </a:pPr>
            <a:r>
              <a:rPr lang="en-US" dirty="0"/>
              <a:t>                                          </a:t>
            </a:r>
          </a:p>
          <a:p>
            <a:pPr marL="0" indent="0">
              <a:buNone/>
            </a:pPr>
            <a:r>
              <a:rPr lang="en-US" b="1" dirty="0">
                <a:solidFill>
                  <a:schemeClr val="accent1"/>
                </a:solidFill>
              </a:rPr>
              <a:t>                                        RESEARCH/SURVEY</a:t>
            </a:r>
          </a:p>
          <a:p>
            <a:pPr marL="0" indent="0">
              <a:buNone/>
            </a:pPr>
            <a:endParaRPr lang="en-US" b="1" dirty="0">
              <a:solidFill>
                <a:schemeClr val="accent1"/>
              </a:solidFill>
            </a:endParaRPr>
          </a:p>
          <a:p>
            <a:pPr marL="0" indent="0">
              <a:buNone/>
            </a:pPr>
            <a:endParaRPr lang="en-IN" sz="1800" dirty="0"/>
          </a:p>
          <a:p>
            <a:pPr marL="0" indent="0" algn="just">
              <a:buNone/>
            </a:pPr>
            <a:r>
              <a:rPr lang="en-IN" sz="1800" dirty="0"/>
              <a:t>According to the Global Hunger Index 2021, India ranks 101st out of 116 countries, with a score of 27.5, indicating a serious level of hunger. India has 189.2 million undernourished people, the highest in the world. India also has high rates of child malnutrition, stunting, wasting, and anaemia. Moreover, India faces the paradox of being self-sufficient in food production but not in food security, as millions of people lack access to adequate and nutritious food due to poverty, inequality, inefficiency, and wastage. Today we endeavour to write about Food Waste and a weakness as well as an opportunity that lies within our industry to support UNSDG 2 – Zero Hunger.</a:t>
            </a:r>
            <a:endParaRPr lang="en-US" sz="1800" dirty="0">
              <a:solidFill>
                <a:schemeClr val="accent1"/>
              </a:solidFill>
            </a:endParaRPr>
          </a:p>
        </p:txBody>
      </p:sp>
      <p:pic>
        <p:nvPicPr>
          <p:cNvPr id="5" name="Picture 4">
            <a:extLst>
              <a:ext uri="{FF2B5EF4-FFF2-40B4-BE49-F238E27FC236}">
                <a16:creationId xmlns:a16="http://schemas.microsoft.com/office/drawing/2014/main" id="{8CF27C2F-576B-7D81-4966-DFA7B60603B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0169" y="469784"/>
            <a:ext cx="1667778" cy="1258348"/>
          </a:xfrm>
          <a:prstGeom prst="rect">
            <a:avLst/>
          </a:prstGeom>
        </p:spPr>
      </p:pic>
      <p:pic>
        <p:nvPicPr>
          <p:cNvPr id="2" name="Picture 1">
            <a:extLst>
              <a:ext uri="{FF2B5EF4-FFF2-40B4-BE49-F238E27FC236}">
                <a16:creationId xmlns:a16="http://schemas.microsoft.com/office/drawing/2014/main" id="{F516E9E7-DF73-0368-EE1F-60A28FADE5E3}"/>
              </a:ext>
            </a:extLst>
          </p:cNvPr>
          <p:cNvPicPr>
            <a:picLocks noChangeAspect="1"/>
          </p:cNvPicPr>
          <p:nvPr/>
        </p:nvPicPr>
        <p:blipFill>
          <a:blip r:embed="rId3"/>
          <a:stretch>
            <a:fillRect/>
          </a:stretch>
        </p:blipFill>
        <p:spPr>
          <a:xfrm>
            <a:off x="880845" y="4118994"/>
            <a:ext cx="3087148" cy="2030136"/>
          </a:xfrm>
          <a:prstGeom prst="rect">
            <a:avLst/>
          </a:prstGeom>
        </p:spPr>
      </p:pic>
      <p:pic>
        <p:nvPicPr>
          <p:cNvPr id="4" name="Picture 3">
            <a:extLst>
              <a:ext uri="{FF2B5EF4-FFF2-40B4-BE49-F238E27FC236}">
                <a16:creationId xmlns:a16="http://schemas.microsoft.com/office/drawing/2014/main" id="{2DAF34C8-BA05-821E-72CB-5F0920AD5F6B}"/>
              </a:ext>
            </a:extLst>
          </p:cNvPr>
          <p:cNvPicPr>
            <a:picLocks noChangeAspect="1"/>
          </p:cNvPicPr>
          <p:nvPr/>
        </p:nvPicPr>
        <p:blipFill>
          <a:blip r:embed="rId4"/>
          <a:stretch>
            <a:fillRect/>
          </a:stretch>
        </p:blipFill>
        <p:spPr>
          <a:xfrm>
            <a:off x="4300756" y="4118994"/>
            <a:ext cx="3087148" cy="2030136"/>
          </a:xfrm>
          <a:prstGeom prst="rect">
            <a:avLst/>
          </a:prstGeom>
        </p:spPr>
      </p:pic>
      <p:pic>
        <p:nvPicPr>
          <p:cNvPr id="6" name="Picture 5">
            <a:extLst>
              <a:ext uri="{FF2B5EF4-FFF2-40B4-BE49-F238E27FC236}">
                <a16:creationId xmlns:a16="http://schemas.microsoft.com/office/drawing/2014/main" id="{F569096E-B1B2-963C-1A37-57E20F4C987F}"/>
              </a:ext>
            </a:extLst>
          </p:cNvPr>
          <p:cNvPicPr>
            <a:picLocks noChangeAspect="1"/>
          </p:cNvPicPr>
          <p:nvPr/>
        </p:nvPicPr>
        <p:blipFill>
          <a:blip r:embed="rId5"/>
          <a:stretch>
            <a:fillRect/>
          </a:stretch>
        </p:blipFill>
        <p:spPr>
          <a:xfrm>
            <a:off x="7929047" y="4118994"/>
            <a:ext cx="3058900" cy="2030137"/>
          </a:xfrm>
          <a:prstGeom prst="rect">
            <a:avLst/>
          </a:prstGeom>
        </p:spPr>
      </p:pic>
    </p:spTree>
    <p:extLst>
      <p:ext uri="{BB962C8B-B14F-4D97-AF65-F5344CB8AC3E}">
        <p14:creationId xmlns:p14="http://schemas.microsoft.com/office/powerpoint/2010/main" val="365126853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C063D83-ED34-85FF-7525-99CB2A82E3F7}"/>
              </a:ext>
            </a:extLst>
          </p:cNvPr>
          <p:cNvSpPr>
            <a:spLocks noGrp="1"/>
          </p:cNvSpPr>
          <p:nvPr>
            <p:ph idx="1"/>
          </p:nvPr>
        </p:nvSpPr>
        <p:spPr>
          <a:xfrm>
            <a:off x="745921" y="385894"/>
            <a:ext cx="10515600" cy="6017572"/>
          </a:xfrm>
          <a:ln>
            <a:solidFill>
              <a:schemeClr val="tx1"/>
            </a:solidFill>
          </a:ln>
        </p:spPr>
        <p:txBody>
          <a:bodyPr/>
          <a:lstStyle/>
          <a:p>
            <a:pPr marL="0" indent="0">
              <a:buNone/>
            </a:pPr>
            <a:endParaRPr lang="en-US" dirty="0">
              <a:solidFill>
                <a:schemeClr val="accent1"/>
              </a:solidFill>
            </a:endParaRPr>
          </a:p>
          <a:p>
            <a:pPr marL="0" indent="0">
              <a:buNone/>
            </a:pPr>
            <a:r>
              <a:rPr lang="en-US" b="1" dirty="0">
                <a:solidFill>
                  <a:schemeClr val="accent1"/>
                </a:solidFill>
              </a:rPr>
              <a:t>ESTIMATED FOOD WASTE BY DIFFERENT SECTORS IN INDIA</a:t>
            </a:r>
            <a:endParaRPr lang="en-US" b="1" dirty="0"/>
          </a:p>
        </p:txBody>
      </p:sp>
      <p:pic>
        <p:nvPicPr>
          <p:cNvPr id="7" name="Picture 6">
            <a:extLst>
              <a:ext uri="{FF2B5EF4-FFF2-40B4-BE49-F238E27FC236}">
                <a16:creationId xmlns:a16="http://schemas.microsoft.com/office/drawing/2014/main" id="{7DF4DFCF-F9A8-B192-46D3-CE4DB2F4AC5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3033" y="1839287"/>
            <a:ext cx="10252221" cy="4564179"/>
          </a:xfrm>
          <a:prstGeom prst="rect">
            <a:avLst/>
          </a:prstGeom>
        </p:spPr>
      </p:pic>
      <p:pic>
        <p:nvPicPr>
          <p:cNvPr id="11" name="Picture 10">
            <a:extLst>
              <a:ext uri="{FF2B5EF4-FFF2-40B4-BE49-F238E27FC236}">
                <a16:creationId xmlns:a16="http://schemas.microsoft.com/office/drawing/2014/main" id="{50B98996-889A-D009-3D8F-9C4A3C720D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538283" y="454534"/>
            <a:ext cx="1644242" cy="1233751"/>
          </a:xfrm>
          <a:prstGeom prst="rect">
            <a:avLst/>
          </a:prstGeom>
        </p:spPr>
      </p:pic>
    </p:spTree>
    <p:extLst>
      <p:ext uri="{BB962C8B-B14F-4D97-AF65-F5344CB8AC3E}">
        <p14:creationId xmlns:p14="http://schemas.microsoft.com/office/powerpoint/2010/main" val="3627856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913D9F-C981-CD01-5202-362ECE999AFC}"/>
              </a:ext>
            </a:extLst>
          </p:cNvPr>
          <p:cNvSpPr>
            <a:spLocks noGrp="1"/>
          </p:cNvSpPr>
          <p:nvPr>
            <p:ph idx="1"/>
          </p:nvPr>
        </p:nvSpPr>
        <p:spPr>
          <a:xfrm>
            <a:off x="838200" y="363794"/>
            <a:ext cx="10515600" cy="5813169"/>
          </a:xfrm>
          <a:ln>
            <a:solidFill>
              <a:schemeClr val="tx1"/>
            </a:solidFill>
          </a:ln>
        </p:spPr>
        <p:txBody>
          <a:bodyPr/>
          <a:lstStyle/>
          <a:p>
            <a:pPr marL="0" indent="0">
              <a:buNone/>
            </a:pPr>
            <a:r>
              <a:rPr lang="en-US" dirty="0">
                <a:solidFill>
                  <a:schemeClr val="accent1"/>
                </a:solidFill>
              </a:rPr>
              <a:t>                                      </a:t>
            </a:r>
          </a:p>
          <a:p>
            <a:pPr marL="0" indent="0">
              <a:buNone/>
            </a:pPr>
            <a:r>
              <a:rPr lang="en-US" b="1" dirty="0">
                <a:solidFill>
                  <a:schemeClr val="accent1"/>
                </a:solidFill>
              </a:rPr>
              <a:t>                                           NGO’s in HYDERABAD</a:t>
            </a:r>
          </a:p>
        </p:txBody>
      </p:sp>
      <p:pic>
        <p:nvPicPr>
          <p:cNvPr id="5" name="Picture 4">
            <a:extLst>
              <a:ext uri="{FF2B5EF4-FFF2-40B4-BE49-F238E27FC236}">
                <a16:creationId xmlns:a16="http://schemas.microsoft.com/office/drawing/2014/main" id="{52D2ECF6-BD50-28CD-5FBB-D984E3CDA8F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56955" y="521109"/>
            <a:ext cx="1632154" cy="1248696"/>
          </a:xfrm>
          <a:prstGeom prst="rect">
            <a:avLst/>
          </a:prstGeom>
        </p:spPr>
      </p:pic>
      <p:pic>
        <p:nvPicPr>
          <p:cNvPr id="7" name="Picture 6">
            <a:extLst>
              <a:ext uri="{FF2B5EF4-FFF2-40B4-BE49-F238E27FC236}">
                <a16:creationId xmlns:a16="http://schemas.microsoft.com/office/drawing/2014/main" id="{B4E177E7-5D80-D6A9-816C-43B7E19675B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4231" y="1681316"/>
            <a:ext cx="10264877" cy="4444179"/>
          </a:xfrm>
          <a:prstGeom prst="rect">
            <a:avLst/>
          </a:prstGeom>
        </p:spPr>
      </p:pic>
    </p:spTree>
    <p:extLst>
      <p:ext uri="{BB962C8B-B14F-4D97-AF65-F5344CB8AC3E}">
        <p14:creationId xmlns:p14="http://schemas.microsoft.com/office/powerpoint/2010/main" val="292812575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4ED56D8-7D2D-EA6F-E939-A0919CE982D3}"/>
              </a:ext>
            </a:extLst>
          </p:cNvPr>
          <p:cNvSpPr>
            <a:spLocks noGrp="1"/>
          </p:cNvSpPr>
          <p:nvPr>
            <p:ph idx="1"/>
          </p:nvPr>
        </p:nvSpPr>
        <p:spPr>
          <a:xfrm>
            <a:off x="838200" y="268448"/>
            <a:ext cx="10515600" cy="6151796"/>
          </a:xfrm>
          <a:ln>
            <a:solidFill>
              <a:schemeClr val="tx1"/>
            </a:solidFill>
          </a:ln>
        </p:spPr>
        <p:txBody>
          <a:bodyPr/>
          <a:lstStyle/>
          <a:p>
            <a:pPr marL="0" indent="0">
              <a:buNone/>
            </a:pPr>
            <a:r>
              <a:rPr lang="en-US" dirty="0"/>
              <a:t>                                                </a:t>
            </a:r>
          </a:p>
          <a:p>
            <a:pPr marL="0" indent="0">
              <a:buNone/>
            </a:pPr>
            <a:r>
              <a:rPr lang="en-US" dirty="0"/>
              <a:t>                                                </a:t>
            </a:r>
            <a:r>
              <a:rPr lang="en-US" b="1" dirty="0">
                <a:solidFill>
                  <a:schemeClr val="accent1"/>
                </a:solidFill>
              </a:rPr>
              <a:t>OBJECTIVES</a:t>
            </a:r>
          </a:p>
        </p:txBody>
      </p:sp>
      <p:pic>
        <p:nvPicPr>
          <p:cNvPr id="6" name="Picture 5">
            <a:extLst>
              <a:ext uri="{FF2B5EF4-FFF2-40B4-BE49-F238E27FC236}">
                <a16:creationId xmlns:a16="http://schemas.microsoft.com/office/drawing/2014/main" id="{E6494FCD-3C7C-898B-AA09-6E07C5223E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28557" y="370643"/>
            <a:ext cx="1786855" cy="1298766"/>
          </a:xfrm>
          <a:prstGeom prst="rect">
            <a:avLst/>
          </a:prstGeom>
        </p:spPr>
      </p:pic>
      <p:sp>
        <p:nvSpPr>
          <p:cNvPr id="8" name="TextBox 7">
            <a:extLst>
              <a:ext uri="{FF2B5EF4-FFF2-40B4-BE49-F238E27FC236}">
                <a16:creationId xmlns:a16="http://schemas.microsoft.com/office/drawing/2014/main" id="{EB035263-7989-BC6E-92A0-3B6A941813B7}"/>
              </a:ext>
            </a:extLst>
          </p:cNvPr>
          <p:cNvSpPr txBox="1"/>
          <p:nvPr/>
        </p:nvSpPr>
        <p:spPr>
          <a:xfrm>
            <a:off x="1048624" y="1993124"/>
            <a:ext cx="9093666" cy="3139321"/>
          </a:xfrm>
          <a:prstGeom prst="rect">
            <a:avLst/>
          </a:prstGeom>
          <a:noFill/>
        </p:spPr>
        <p:txBody>
          <a:bodyPr wrap="square">
            <a:spAutoFit/>
          </a:bodyPr>
          <a:lstStyle/>
          <a:p>
            <a:pPr algn="just"/>
            <a:r>
              <a:rPr lang="en-US" dirty="0"/>
              <a:t>1. To build a user-friendly mobile application that simplifies the food donation process for all     users . </a:t>
            </a:r>
          </a:p>
          <a:p>
            <a:pPr algn="just"/>
            <a:r>
              <a:rPr lang="en-US" dirty="0"/>
              <a:t>2. To minimize environmental impact by reducing food waste sent to landfills.</a:t>
            </a:r>
          </a:p>
          <a:p>
            <a:pPr algn="just"/>
            <a:r>
              <a:rPr lang="en-US" dirty="0"/>
              <a:t>3. To create a transparent tracking system for donated food from source to destination.</a:t>
            </a:r>
          </a:p>
          <a:p>
            <a:pPr algn="just"/>
            <a:r>
              <a:rPr lang="en-US" dirty="0"/>
              <a:t>4. To strengthen collaboration between donors, NGOs, volunteers, and local communities.</a:t>
            </a:r>
          </a:p>
          <a:p>
            <a:pPr algn="just"/>
            <a:r>
              <a:rPr lang="en-US" dirty="0"/>
              <a:t>5. To raise awareness about food wastage and responsible consumption through digital campaigns.</a:t>
            </a:r>
          </a:p>
          <a:p>
            <a:pPr algn="just"/>
            <a:r>
              <a:rPr lang="en-US" dirty="0"/>
              <a:t>6. To provide quick response during emergencies by enabling instant food availability    notifications.</a:t>
            </a:r>
          </a:p>
          <a:p>
            <a:pPr algn="just"/>
            <a:r>
              <a:rPr lang="en-US" dirty="0"/>
              <a:t>7. To support government and non-profit initiatives aimed at hunger eradication and       sustainability.</a:t>
            </a:r>
          </a:p>
        </p:txBody>
      </p:sp>
    </p:spTree>
    <p:extLst>
      <p:ext uri="{BB962C8B-B14F-4D97-AF65-F5344CB8AC3E}">
        <p14:creationId xmlns:p14="http://schemas.microsoft.com/office/powerpoint/2010/main" val="276788041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C890AF-F4C0-F0E5-F4AF-0C0BC132CB1F}"/>
              </a:ext>
            </a:extLst>
          </p:cNvPr>
          <p:cNvSpPr>
            <a:spLocks noGrp="1"/>
          </p:cNvSpPr>
          <p:nvPr>
            <p:ph idx="1"/>
          </p:nvPr>
        </p:nvSpPr>
        <p:spPr>
          <a:xfrm>
            <a:off x="754310" y="335560"/>
            <a:ext cx="10587606" cy="6101462"/>
          </a:xfrm>
          <a:ln>
            <a:solidFill>
              <a:schemeClr val="tx1"/>
            </a:solidFill>
          </a:ln>
        </p:spPr>
        <p:txBody>
          <a:bodyPr>
            <a:normAutofit/>
          </a:bodyPr>
          <a:lstStyle/>
          <a:p>
            <a:pPr marL="0" indent="0">
              <a:buNone/>
            </a:pPr>
            <a:r>
              <a:rPr lang="en-US" dirty="0"/>
              <a:t>                                      </a:t>
            </a:r>
          </a:p>
          <a:p>
            <a:pPr marL="0" indent="0">
              <a:buNone/>
            </a:pPr>
            <a:r>
              <a:rPr lang="en-US" dirty="0"/>
              <a:t>                                         </a:t>
            </a:r>
            <a:r>
              <a:rPr lang="en-US" b="1" dirty="0">
                <a:solidFill>
                  <a:schemeClr val="accent1"/>
                </a:solidFill>
              </a:rPr>
              <a:t>PROPOSED SOLUTION</a:t>
            </a:r>
          </a:p>
          <a:p>
            <a:pPr marL="0" indent="0">
              <a:buNone/>
            </a:pPr>
            <a:r>
              <a:rPr lang="en-US" sz="1900" dirty="0">
                <a:solidFill>
                  <a:schemeClr val="accent1"/>
                </a:solidFill>
              </a:rPr>
              <a:t> </a:t>
            </a:r>
          </a:p>
          <a:p>
            <a:pPr marL="0" indent="0" algn="just">
              <a:buNone/>
            </a:pPr>
            <a:r>
              <a:rPr lang="en-US" sz="1900" dirty="0"/>
              <a:t>The proposed solution is a smart, mobile-based Food Wastage and Hunger Management Application designed to address the dual problems of excessive food wastage and widespread hunger. The platform acts as a centralized digital bridge connecting food donors such as households, restaurants, hotels, and event organizers with NGOs, volunteers, and underprivileged individuals who require food support.</a:t>
            </a:r>
          </a:p>
          <a:p>
            <a:pPr marL="0" indent="0" algn="just">
              <a:buNone/>
            </a:pPr>
            <a:r>
              <a:rPr lang="en-US" sz="1900" dirty="0"/>
              <a:t>The application enables donors to upload real-time information about surplus food, including quantity, type, location, and availability duration. Using GPS-based location matching and instant notifications, nearby volunteers or partner organizations are alerted to ensure quick pickup and distribution before the food expires. The system incorporates pickup scheduling, donor verification, and food safety guidelines to maintain hygiene and accountability throughout the process.</a:t>
            </a:r>
          </a:p>
          <a:p>
            <a:pPr marL="0" indent="0" algn="just">
              <a:buNone/>
            </a:pPr>
            <a:r>
              <a:rPr lang="en-US" sz="1900" dirty="0"/>
              <a:t>By automating coordination and communication, the proposed solution eliminates manual inefficiencies, reduces food disposal, and ensures timely food delivery to those in need. This technology-driven approach not only helps in hunger alleviation but also promotes environmental sustainability, social responsibility, and community engagement, making it a scalable and impactful solution for urban and semi-urban regions.</a:t>
            </a:r>
          </a:p>
        </p:txBody>
      </p:sp>
      <p:pic>
        <p:nvPicPr>
          <p:cNvPr id="5" name="Picture 4">
            <a:extLst>
              <a:ext uri="{FF2B5EF4-FFF2-40B4-BE49-F238E27FC236}">
                <a16:creationId xmlns:a16="http://schemas.microsoft.com/office/drawing/2014/main" id="{BAD434A8-32A2-D503-6787-D7A8927BA0E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03390" y="420978"/>
            <a:ext cx="1786855" cy="1325461"/>
          </a:xfrm>
          <a:prstGeom prst="rect">
            <a:avLst/>
          </a:prstGeom>
        </p:spPr>
      </p:pic>
    </p:spTree>
    <p:extLst>
      <p:ext uri="{BB962C8B-B14F-4D97-AF65-F5344CB8AC3E}">
        <p14:creationId xmlns:p14="http://schemas.microsoft.com/office/powerpoint/2010/main" val="5987363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9C03C47-4626-795B-BF07-D744AA369543}"/>
              </a:ext>
            </a:extLst>
          </p:cNvPr>
          <p:cNvSpPr>
            <a:spLocks noGrp="1"/>
          </p:cNvSpPr>
          <p:nvPr>
            <p:ph idx="1"/>
          </p:nvPr>
        </p:nvSpPr>
        <p:spPr>
          <a:xfrm>
            <a:off x="838200" y="411061"/>
            <a:ext cx="10515600" cy="5765902"/>
          </a:xfrm>
          <a:ln>
            <a:solidFill>
              <a:schemeClr val="tx1"/>
            </a:solidFill>
          </a:ln>
        </p:spPr>
        <p:txBody>
          <a:bodyPr/>
          <a:lstStyle/>
          <a:p>
            <a:pPr marL="0" indent="0">
              <a:buNone/>
            </a:pPr>
            <a:endParaRPr lang="en-US" dirty="0"/>
          </a:p>
          <a:p>
            <a:pPr marL="0" indent="0">
              <a:buNone/>
            </a:pPr>
            <a:r>
              <a:rPr lang="en-US" b="1" dirty="0"/>
              <a:t>                                    </a:t>
            </a:r>
            <a:r>
              <a:rPr lang="en-US" b="1" dirty="0">
                <a:solidFill>
                  <a:schemeClr val="accent1"/>
                </a:solidFill>
              </a:rPr>
              <a:t>PRODUCT DESCRIPTION</a:t>
            </a:r>
          </a:p>
          <a:p>
            <a:pPr marL="0" indent="0">
              <a:buNone/>
            </a:pPr>
            <a:endParaRPr lang="en-US" sz="1800" dirty="0"/>
          </a:p>
          <a:p>
            <a:pPr marL="0" indent="0">
              <a:buNone/>
            </a:pPr>
            <a:endParaRPr lang="en-US" sz="1800" dirty="0"/>
          </a:p>
          <a:p>
            <a:pPr marL="0" indent="0" algn="just">
              <a:buNone/>
            </a:pPr>
            <a:r>
              <a:rPr lang="en-US" sz="1800" dirty="0"/>
              <a:t>The Food Wastage and Hunger Management App is a technology-driven solution designed to reduce food wastage and combat hunger by connecting surplus food providers with NGOs, volunteers, and people in need. The application enables households, restaurants, hotels, and event organizers to easily list excess edible food in real time.</a:t>
            </a:r>
          </a:p>
          <a:p>
            <a:pPr marL="0" indent="0" algn="just">
              <a:buNone/>
            </a:pPr>
            <a:r>
              <a:rPr lang="en-US" sz="1800" dirty="0"/>
              <a:t>Through location-based matching and instant notifications, the app ensures timely collection and safe distribution of food before it gets wasted. It also provides pickup scheduling, donor verification, and basic hygiene guidelines to maintain food quality. By acting as a bridge between food surplus and food scarcity, the platform promotes social responsibility, environmental sustainability, and community participation using a simple and user-friendly interface.</a:t>
            </a:r>
          </a:p>
          <a:p>
            <a:pPr marL="0" indent="0">
              <a:buNone/>
            </a:pPr>
            <a:endParaRPr lang="en-US" dirty="0"/>
          </a:p>
        </p:txBody>
      </p:sp>
      <p:pic>
        <p:nvPicPr>
          <p:cNvPr id="5" name="Picture 4">
            <a:extLst>
              <a:ext uri="{FF2B5EF4-FFF2-40B4-BE49-F238E27FC236}">
                <a16:creationId xmlns:a16="http://schemas.microsoft.com/office/drawing/2014/main" id="{2EC31F2A-B8EB-0929-C4B8-CD8ACD49D44E}"/>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70503" y="536896"/>
            <a:ext cx="1845576" cy="1333849"/>
          </a:xfrm>
          <a:prstGeom prst="rect">
            <a:avLst/>
          </a:prstGeom>
        </p:spPr>
      </p:pic>
    </p:spTree>
    <p:extLst>
      <p:ext uri="{BB962C8B-B14F-4D97-AF65-F5344CB8AC3E}">
        <p14:creationId xmlns:p14="http://schemas.microsoft.com/office/powerpoint/2010/main" val="393239101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2E5BC3-BE92-902F-76A5-8F84717C5B38}"/>
              </a:ext>
            </a:extLst>
          </p:cNvPr>
          <p:cNvSpPr>
            <a:spLocks noGrp="1"/>
          </p:cNvSpPr>
          <p:nvPr>
            <p:ph idx="1"/>
          </p:nvPr>
        </p:nvSpPr>
        <p:spPr>
          <a:xfrm>
            <a:off x="838200" y="369116"/>
            <a:ext cx="10515600" cy="5807847"/>
          </a:xfrm>
          <a:ln>
            <a:solidFill>
              <a:schemeClr val="tx1"/>
            </a:solidFill>
          </a:ln>
        </p:spPr>
        <p:txBody>
          <a:bodyPr/>
          <a:lstStyle/>
          <a:p>
            <a:pPr marL="0" indent="0">
              <a:buNone/>
            </a:pPr>
            <a:r>
              <a:rPr lang="en-US" dirty="0"/>
              <a:t>                           </a:t>
            </a:r>
          </a:p>
          <a:p>
            <a:pPr marL="0" indent="0">
              <a:buNone/>
            </a:pPr>
            <a:r>
              <a:rPr lang="en-US" dirty="0">
                <a:solidFill>
                  <a:schemeClr val="accent1"/>
                </a:solidFill>
              </a:rPr>
              <a:t>                                     </a:t>
            </a:r>
            <a:r>
              <a:rPr lang="en-US" b="1" dirty="0">
                <a:solidFill>
                  <a:schemeClr val="accent1"/>
                </a:solidFill>
              </a:rPr>
              <a:t>SYSTEM ARCHITECTURE</a:t>
            </a:r>
          </a:p>
        </p:txBody>
      </p:sp>
      <p:pic>
        <p:nvPicPr>
          <p:cNvPr id="5" name="Picture 4">
            <a:extLst>
              <a:ext uri="{FF2B5EF4-FFF2-40B4-BE49-F238E27FC236}">
                <a16:creationId xmlns:a16="http://schemas.microsoft.com/office/drawing/2014/main" id="{9E416B74-6C93-EEFA-1597-158443FACF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45336" y="528506"/>
            <a:ext cx="1852333" cy="1459685"/>
          </a:xfrm>
          <a:prstGeom prst="rect">
            <a:avLst/>
          </a:prstGeom>
        </p:spPr>
      </p:pic>
      <p:sp>
        <p:nvSpPr>
          <p:cNvPr id="9" name="TextBox 8">
            <a:extLst>
              <a:ext uri="{FF2B5EF4-FFF2-40B4-BE49-F238E27FC236}">
                <a16:creationId xmlns:a16="http://schemas.microsoft.com/office/drawing/2014/main" id="{9FA9D2DA-1952-41AB-6B09-A103AEB04DFD}"/>
              </a:ext>
            </a:extLst>
          </p:cNvPr>
          <p:cNvSpPr txBox="1"/>
          <p:nvPr/>
        </p:nvSpPr>
        <p:spPr>
          <a:xfrm>
            <a:off x="1065403" y="2229466"/>
            <a:ext cx="5557007" cy="3693319"/>
          </a:xfrm>
          <a:prstGeom prst="rect">
            <a:avLst/>
          </a:prstGeom>
          <a:noFill/>
          <a:ln>
            <a:solidFill>
              <a:schemeClr val="tx1"/>
            </a:solidFill>
          </a:ln>
        </p:spPr>
        <p:txBody>
          <a:bodyPr wrap="square">
            <a:spAutoFit/>
          </a:bodyPr>
          <a:lstStyle/>
          <a:p>
            <a:pPr algn="just"/>
            <a:r>
              <a:rPr lang="en-US" b="1" dirty="0"/>
              <a:t>User Layer</a:t>
            </a:r>
            <a:r>
              <a:rPr lang="en-US" dirty="0"/>
              <a:t>: Donors, NGOs, volunteers, and beneficiaries using the mobile app.</a:t>
            </a:r>
          </a:p>
          <a:p>
            <a:pPr algn="just"/>
            <a:r>
              <a:rPr lang="en-US" b="1" dirty="0"/>
              <a:t>Application Layer</a:t>
            </a:r>
            <a:r>
              <a:rPr lang="en-US" dirty="0"/>
              <a:t>: The mobile application interface where users register, post food details, and receive notifications.</a:t>
            </a:r>
          </a:p>
          <a:p>
            <a:pPr algn="just"/>
            <a:r>
              <a:rPr lang="en-US" b="1" dirty="0"/>
              <a:t>Backend Server</a:t>
            </a:r>
            <a:r>
              <a:rPr lang="en-US" dirty="0"/>
              <a:t>: Handles business logic, authentication, food listing management, and request processing.</a:t>
            </a:r>
          </a:p>
          <a:p>
            <a:pPr algn="just"/>
            <a:r>
              <a:rPr lang="en-US" b="1" dirty="0"/>
              <a:t>Database</a:t>
            </a:r>
            <a:r>
              <a:rPr lang="en-US" dirty="0"/>
              <a:t>: Stores user data, food donation details, pickup status, and history.</a:t>
            </a:r>
          </a:p>
          <a:p>
            <a:pPr algn="just"/>
            <a:r>
              <a:rPr lang="en-US" b="1" dirty="0"/>
              <a:t>Notification Service</a:t>
            </a:r>
            <a:r>
              <a:rPr lang="en-US" dirty="0"/>
              <a:t>: Sends real-time alerts to nearby volunteers and NGOs.</a:t>
            </a:r>
          </a:p>
          <a:p>
            <a:pPr algn="just"/>
            <a:r>
              <a:rPr lang="en-US" b="1" dirty="0"/>
              <a:t>Location Service </a:t>
            </a:r>
            <a:r>
              <a:rPr lang="en-US" dirty="0"/>
              <a:t>(GPS): Matches donors with nearby receivers efficiently.</a:t>
            </a:r>
          </a:p>
        </p:txBody>
      </p:sp>
      <p:pic>
        <p:nvPicPr>
          <p:cNvPr id="13" name="Picture 12">
            <a:extLst>
              <a:ext uri="{FF2B5EF4-FFF2-40B4-BE49-F238E27FC236}">
                <a16:creationId xmlns:a16="http://schemas.microsoft.com/office/drawing/2014/main" id="{2F0B0891-2339-2BFE-5C6B-ACB2E03A108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646875" y="2273418"/>
            <a:ext cx="4479722" cy="3629398"/>
          </a:xfrm>
          <a:prstGeom prst="rect">
            <a:avLst/>
          </a:prstGeom>
        </p:spPr>
      </p:pic>
    </p:spTree>
    <p:extLst>
      <p:ext uri="{BB962C8B-B14F-4D97-AF65-F5344CB8AC3E}">
        <p14:creationId xmlns:p14="http://schemas.microsoft.com/office/powerpoint/2010/main" val="388441623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889110D-52E6-2E8F-2154-6EB23EF26DAA}"/>
              </a:ext>
            </a:extLst>
          </p:cNvPr>
          <p:cNvSpPr>
            <a:spLocks noGrp="1"/>
          </p:cNvSpPr>
          <p:nvPr>
            <p:ph idx="1"/>
          </p:nvPr>
        </p:nvSpPr>
        <p:spPr>
          <a:xfrm>
            <a:off x="838200" y="335560"/>
            <a:ext cx="10515600" cy="5841403"/>
          </a:xfrm>
          <a:ln>
            <a:solidFill>
              <a:schemeClr val="tx1"/>
            </a:solidFill>
          </a:ln>
        </p:spPr>
        <p:txBody>
          <a:bodyPr/>
          <a:lstStyle/>
          <a:p>
            <a:pPr marL="0" indent="0">
              <a:buNone/>
            </a:pPr>
            <a:r>
              <a:rPr lang="en-US" dirty="0"/>
              <a:t> </a:t>
            </a:r>
          </a:p>
          <a:p>
            <a:pPr marL="0" indent="0">
              <a:buNone/>
            </a:pPr>
            <a:r>
              <a:rPr lang="en-US" b="1" dirty="0"/>
              <a:t>                                       </a:t>
            </a:r>
            <a:r>
              <a:rPr lang="en-US" b="1" dirty="0">
                <a:solidFill>
                  <a:schemeClr val="accent1"/>
                </a:solidFill>
              </a:rPr>
              <a:t>TECHNOLOGIES</a:t>
            </a:r>
            <a:r>
              <a:rPr lang="en-US" b="1" dirty="0"/>
              <a:t> </a:t>
            </a:r>
            <a:r>
              <a:rPr lang="en-US" b="1" dirty="0">
                <a:solidFill>
                  <a:schemeClr val="accent1"/>
                </a:solidFill>
              </a:rPr>
              <a:t>USED</a:t>
            </a:r>
          </a:p>
        </p:txBody>
      </p:sp>
      <p:pic>
        <p:nvPicPr>
          <p:cNvPr id="5" name="Picture 4">
            <a:extLst>
              <a:ext uri="{FF2B5EF4-FFF2-40B4-BE49-F238E27FC236}">
                <a16:creationId xmlns:a16="http://schemas.microsoft.com/office/drawing/2014/main" id="{D16B6C81-A264-0F82-BE76-29E32CF19F36}"/>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1779" y="453005"/>
            <a:ext cx="1870745" cy="1350628"/>
          </a:xfrm>
          <a:prstGeom prst="rect">
            <a:avLst/>
          </a:prstGeom>
        </p:spPr>
      </p:pic>
      <p:sp>
        <p:nvSpPr>
          <p:cNvPr id="7" name="TextBox 6">
            <a:extLst>
              <a:ext uri="{FF2B5EF4-FFF2-40B4-BE49-F238E27FC236}">
                <a16:creationId xmlns:a16="http://schemas.microsoft.com/office/drawing/2014/main" id="{F252C323-B3DF-B27E-EA66-7F68FA347C4B}"/>
              </a:ext>
            </a:extLst>
          </p:cNvPr>
          <p:cNvSpPr txBox="1"/>
          <p:nvPr/>
        </p:nvSpPr>
        <p:spPr>
          <a:xfrm>
            <a:off x="4503489" y="1728132"/>
            <a:ext cx="6565783" cy="4247317"/>
          </a:xfrm>
          <a:prstGeom prst="rect">
            <a:avLst/>
          </a:prstGeom>
          <a:noFill/>
          <a:ln>
            <a:solidFill>
              <a:schemeClr val="tx1"/>
            </a:solidFill>
          </a:ln>
        </p:spPr>
        <p:txBody>
          <a:bodyPr wrap="square">
            <a:spAutoFit/>
          </a:bodyPr>
          <a:lstStyle/>
          <a:p>
            <a:pPr algn="just"/>
            <a:r>
              <a:rPr lang="en-US" b="1" dirty="0"/>
              <a:t>Frontend </a:t>
            </a:r>
            <a:r>
              <a:rPr lang="en-US" dirty="0"/>
              <a:t>(Mobile Application):Developed using Flutter and React Native to build a cross-platform mobile application with a responsive and user-friendly interface for Android and iOS users.</a:t>
            </a:r>
          </a:p>
          <a:p>
            <a:pPr algn="just"/>
            <a:r>
              <a:rPr lang="en-US" b="1" dirty="0"/>
              <a:t>Backend Server </a:t>
            </a:r>
            <a:r>
              <a:rPr lang="en-US" dirty="0"/>
              <a:t>: Node. js used to manage server-side logic, RESTful APIs, authentication, and food donation workflows.</a:t>
            </a:r>
          </a:p>
          <a:p>
            <a:pPr algn="just"/>
            <a:r>
              <a:rPr lang="en-US" b="1" dirty="0"/>
              <a:t>Database</a:t>
            </a:r>
            <a:r>
              <a:rPr lang="en-US" dirty="0"/>
              <a:t> : MongoDB for storing user profiles, food donation details, pickup status, and transaction history in a scalable NoSQL format.</a:t>
            </a:r>
          </a:p>
          <a:p>
            <a:pPr algn="just"/>
            <a:r>
              <a:rPr lang="en-US" b="1" dirty="0"/>
              <a:t>Cloud &amp; Backend Services </a:t>
            </a:r>
            <a:r>
              <a:rPr lang="en-US" dirty="0"/>
              <a:t>: Firebase for user authentication, real-time updates, cloud storage, and push notifications.</a:t>
            </a:r>
          </a:p>
          <a:p>
            <a:pPr algn="just"/>
            <a:r>
              <a:rPr lang="en-US" b="1" dirty="0"/>
              <a:t>AI-Based Recommendation System </a:t>
            </a:r>
            <a:r>
              <a:rPr lang="en-US" dirty="0"/>
              <a:t>: AI algorithms to optimize food redistribution by recommending the nearest NGOs or volunteers based on location, food quantity, urgency, and demand.</a:t>
            </a:r>
          </a:p>
          <a:p>
            <a:pPr algn="just"/>
            <a:r>
              <a:rPr lang="en-US" b="1" dirty="0"/>
              <a:t>Image Recognition </a:t>
            </a:r>
            <a:r>
              <a:rPr lang="en-US" dirty="0"/>
              <a:t>: AI-based image recognition to analyze uploaded food images and help identify food type and basic quality before redistribution.</a:t>
            </a:r>
          </a:p>
        </p:txBody>
      </p:sp>
      <p:sp>
        <p:nvSpPr>
          <p:cNvPr id="9" name="Rectangle 8">
            <a:extLst>
              <a:ext uri="{FF2B5EF4-FFF2-40B4-BE49-F238E27FC236}">
                <a16:creationId xmlns:a16="http://schemas.microsoft.com/office/drawing/2014/main" id="{29CB033D-BD29-55E3-62BA-57C72F8D24D6}"/>
              </a:ext>
            </a:extLst>
          </p:cNvPr>
          <p:cNvSpPr/>
          <p:nvPr/>
        </p:nvSpPr>
        <p:spPr>
          <a:xfrm>
            <a:off x="1008777" y="1325462"/>
            <a:ext cx="3324136" cy="4649988"/>
          </a:xfrm>
          <a:prstGeom prst="rect">
            <a:avLst/>
          </a:prstGeom>
          <a:solidFill>
            <a:schemeClr val="bg1"/>
          </a:solidFill>
        </p:spPr>
        <p:style>
          <a:lnRef idx="1">
            <a:schemeClr val="accent1"/>
          </a:lnRef>
          <a:fillRef idx="3">
            <a:schemeClr val="accent1"/>
          </a:fillRef>
          <a:effectRef idx="2">
            <a:schemeClr val="accent1"/>
          </a:effectRef>
          <a:fontRef idx="minor">
            <a:schemeClr val="lt1"/>
          </a:fontRef>
        </p:style>
        <p:txBody>
          <a:bodyPr rtlCol="0" anchor="ctr"/>
          <a:lstStyle/>
          <a:p>
            <a:r>
              <a:rPr lang="en-IN" dirty="0">
                <a:solidFill>
                  <a:srgbClr val="00B0F0"/>
                </a:solidFill>
              </a:rPr>
              <a:t>TECHNOLOGY STACK:</a:t>
            </a:r>
          </a:p>
          <a:p>
            <a:endParaRPr lang="en-IN" dirty="0">
              <a:solidFill>
                <a:srgbClr val="00B0F0"/>
              </a:solidFill>
            </a:endParaRPr>
          </a:p>
          <a:p>
            <a:r>
              <a:rPr lang="en-IN" dirty="0">
                <a:solidFill>
                  <a:schemeClr val="tx1"/>
                </a:solidFill>
              </a:rPr>
              <a:t>1.FRONT END </a:t>
            </a:r>
          </a:p>
          <a:p>
            <a:pPr marL="285750" indent="-285750">
              <a:buFont typeface="Arial" panose="020B0604020202020204" pitchFamily="34" charset="0"/>
              <a:buChar char="•"/>
            </a:pPr>
            <a:r>
              <a:rPr lang="en-IN" dirty="0">
                <a:solidFill>
                  <a:schemeClr val="tx1"/>
                </a:solidFill>
              </a:rPr>
              <a:t>FLUTTER</a:t>
            </a:r>
          </a:p>
          <a:p>
            <a:pPr marL="285750" indent="-285750">
              <a:buFont typeface="Arial" panose="020B0604020202020204" pitchFamily="34" charset="0"/>
              <a:buChar char="•"/>
            </a:pPr>
            <a:r>
              <a:rPr lang="en-IN" dirty="0">
                <a:solidFill>
                  <a:schemeClr val="tx1"/>
                </a:solidFill>
              </a:rPr>
              <a:t>REACT NATIVE</a:t>
            </a:r>
          </a:p>
          <a:p>
            <a:endParaRPr lang="en-IN" dirty="0">
              <a:solidFill>
                <a:schemeClr val="tx1"/>
              </a:solidFill>
            </a:endParaRPr>
          </a:p>
          <a:p>
            <a:r>
              <a:rPr lang="en-IN" dirty="0">
                <a:solidFill>
                  <a:schemeClr val="tx1"/>
                </a:solidFill>
              </a:rPr>
              <a:t>2.BACK END</a:t>
            </a:r>
          </a:p>
          <a:p>
            <a:pPr marL="285750" indent="-285750">
              <a:buFont typeface="Arial" panose="020B0604020202020204" pitchFamily="34" charset="0"/>
              <a:buChar char="•"/>
            </a:pPr>
            <a:r>
              <a:rPr lang="en-IN" dirty="0">
                <a:solidFill>
                  <a:schemeClr val="tx1"/>
                </a:solidFill>
              </a:rPr>
              <a:t>NODE JS</a:t>
            </a:r>
          </a:p>
          <a:p>
            <a:pPr marL="285750" indent="-285750">
              <a:buFont typeface="Arial" panose="020B0604020202020204" pitchFamily="34" charset="0"/>
              <a:buChar char="•"/>
            </a:pPr>
            <a:r>
              <a:rPr lang="en-IN" dirty="0">
                <a:solidFill>
                  <a:schemeClr val="tx1"/>
                </a:solidFill>
              </a:rPr>
              <a:t>FIRE BASE</a:t>
            </a:r>
          </a:p>
          <a:p>
            <a:pPr marL="285750" indent="-285750">
              <a:buFont typeface="Arial" panose="020B0604020202020204" pitchFamily="34" charset="0"/>
              <a:buChar char="•"/>
            </a:pPr>
            <a:endParaRPr lang="en-IN" dirty="0">
              <a:solidFill>
                <a:schemeClr val="tx1"/>
              </a:solidFill>
            </a:endParaRPr>
          </a:p>
          <a:p>
            <a:r>
              <a:rPr lang="en-IN" dirty="0">
                <a:solidFill>
                  <a:schemeClr val="tx1"/>
                </a:solidFill>
              </a:rPr>
              <a:t>3.DATABASE</a:t>
            </a:r>
          </a:p>
          <a:p>
            <a:pPr marL="285750" indent="-285750">
              <a:buFont typeface="Arial" panose="020B0604020202020204" pitchFamily="34" charset="0"/>
              <a:buChar char="•"/>
            </a:pPr>
            <a:r>
              <a:rPr lang="en-IN" dirty="0">
                <a:solidFill>
                  <a:schemeClr val="tx1"/>
                </a:solidFill>
              </a:rPr>
              <a:t>MONGO DB</a:t>
            </a:r>
          </a:p>
          <a:p>
            <a:pPr marL="285750" indent="-285750">
              <a:buFont typeface="Arial" panose="020B0604020202020204" pitchFamily="34" charset="0"/>
              <a:buChar char="•"/>
            </a:pPr>
            <a:endParaRPr lang="en-IN" dirty="0">
              <a:solidFill>
                <a:schemeClr val="tx1"/>
              </a:solidFill>
            </a:endParaRPr>
          </a:p>
          <a:p>
            <a:r>
              <a:rPr lang="en-IN" dirty="0">
                <a:solidFill>
                  <a:schemeClr val="tx1"/>
                </a:solidFill>
              </a:rPr>
              <a:t>4.AI TOOLS FOR REDISTRIBUTION</a:t>
            </a:r>
          </a:p>
          <a:p>
            <a:pPr marL="285750" indent="-285750">
              <a:buFont typeface="Arial" panose="020B0604020202020204" pitchFamily="34" charset="0"/>
              <a:buChar char="•"/>
            </a:pPr>
            <a:r>
              <a:rPr lang="en-IN" dirty="0">
                <a:solidFill>
                  <a:schemeClr val="tx1"/>
                </a:solidFill>
              </a:rPr>
              <a:t>RECOMMENDATION AI</a:t>
            </a:r>
          </a:p>
          <a:p>
            <a:pPr marL="285750" indent="-285750">
              <a:buFont typeface="Arial" panose="020B0604020202020204" pitchFamily="34" charset="0"/>
              <a:buChar char="•"/>
            </a:pPr>
            <a:r>
              <a:rPr lang="en-IN" dirty="0">
                <a:solidFill>
                  <a:schemeClr val="tx1"/>
                </a:solidFill>
              </a:rPr>
              <a:t>CHATBOT SUPPORT</a:t>
            </a:r>
          </a:p>
          <a:p>
            <a:pPr marL="285750" indent="-285750">
              <a:buFont typeface="Arial" panose="020B0604020202020204" pitchFamily="34" charset="0"/>
              <a:buChar char="•"/>
            </a:pPr>
            <a:r>
              <a:rPr lang="en-IN" dirty="0">
                <a:solidFill>
                  <a:schemeClr val="tx1"/>
                </a:solidFill>
              </a:rPr>
              <a:t>IMAGE RECOGNITION</a:t>
            </a:r>
            <a:endParaRPr lang="en-IN" dirty="0">
              <a:solidFill>
                <a:srgbClr val="00B0F0"/>
              </a:solidFill>
            </a:endParaRPr>
          </a:p>
        </p:txBody>
      </p:sp>
    </p:spTree>
    <p:extLst>
      <p:ext uri="{BB962C8B-B14F-4D97-AF65-F5344CB8AC3E}">
        <p14:creationId xmlns:p14="http://schemas.microsoft.com/office/powerpoint/2010/main" val="29992953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15D1DC3-4528-73D3-49C3-A455DC7A8DAF}"/>
              </a:ext>
            </a:extLst>
          </p:cNvPr>
          <p:cNvSpPr>
            <a:spLocks noGrp="1"/>
          </p:cNvSpPr>
          <p:nvPr>
            <p:ph idx="1"/>
          </p:nvPr>
        </p:nvSpPr>
        <p:spPr>
          <a:xfrm>
            <a:off x="729143" y="427839"/>
            <a:ext cx="10515600" cy="6009183"/>
          </a:xfrm>
          <a:ln>
            <a:solidFill>
              <a:schemeClr val="tx1"/>
            </a:solidFill>
          </a:ln>
        </p:spPr>
        <p:txBody>
          <a:bodyPr/>
          <a:lstStyle/>
          <a:p>
            <a:pPr marL="0" indent="0">
              <a:buNone/>
            </a:pPr>
            <a:r>
              <a:rPr lang="en-US" dirty="0"/>
              <a:t>               </a:t>
            </a:r>
          </a:p>
          <a:p>
            <a:pPr marL="0" indent="0">
              <a:buNone/>
            </a:pPr>
            <a:r>
              <a:rPr lang="en-US" dirty="0">
                <a:solidFill>
                  <a:schemeClr val="accent1"/>
                </a:solidFill>
              </a:rPr>
              <a:t>                                       </a:t>
            </a:r>
            <a:r>
              <a:rPr lang="en-US" b="1" dirty="0">
                <a:solidFill>
                  <a:schemeClr val="accent1"/>
                </a:solidFill>
              </a:rPr>
              <a:t>WORKING PROTOTYPE</a:t>
            </a:r>
          </a:p>
        </p:txBody>
      </p:sp>
      <p:pic>
        <p:nvPicPr>
          <p:cNvPr id="5" name="Picture 4">
            <a:extLst>
              <a:ext uri="{FF2B5EF4-FFF2-40B4-BE49-F238E27FC236}">
                <a16:creationId xmlns:a16="http://schemas.microsoft.com/office/drawing/2014/main" id="{E328CB83-6989-6AD1-0D86-50F4E368322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87281" y="511729"/>
            <a:ext cx="1692944" cy="1543573"/>
          </a:xfrm>
          <a:prstGeom prst="rect">
            <a:avLst/>
          </a:prstGeom>
        </p:spPr>
      </p:pic>
      <p:pic>
        <p:nvPicPr>
          <p:cNvPr id="6" name="Picture 5">
            <a:extLst>
              <a:ext uri="{FF2B5EF4-FFF2-40B4-BE49-F238E27FC236}">
                <a16:creationId xmlns:a16="http://schemas.microsoft.com/office/drawing/2014/main" id="{D28F793A-E373-BB2E-3B88-34C029E2DBF6}"/>
              </a:ext>
            </a:extLst>
          </p:cNvPr>
          <p:cNvPicPr>
            <a:picLocks noChangeAspect="1"/>
          </p:cNvPicPr>
          <p:nvPr/>
        </p:nvPicPr>
        <p:blipFill>
          <a:blip r:embed="rId3"/>
          <a:stretch>
            <a:fillRect/>
          </a:stretch>
        </p:blipFill>
        <p:spPr>
          <a:xfrm>
            <a:off x="1342239" y="1727306"/>
            <a:ext cx="4420999" cy="3423534"/>
          </a:xfrm>
          <a:prstGeom prst="rect">
            <a:avLst/>
          </a:prstGeom>
          <a:ln>
            <a:noFill/>
          </a:ln>
          <a:effectLst>
            <a:softEdge rad="112500"/>
          </a:effectLst>
        </p:spPr>
      </p:pic>
      <p:pic>
        <p:nvPicPr>
          <p:cNvPr id="7" name="Picture 6">
            <a:extLst>
              <a:ext uri="{FF2B5EF4-FFF2-40B4-BE49-F238E27FC236}">
                <a16:creationId xmlns:a16="http://schemas.microsoft.com/office/drawing/2014/main" id="{6912C2FD-2E11-6F82-11E6-75F2DAC88A23}"/>
              </a:ext>
            </a:extLst>
          </p:cNvPr>
          <p:cNvPicPr>
            <a:picLocks noChangeAspect="1"/>
          </p:cNvPicPr>
          <p:nvPr/>
        </p:nvPicPr>
        <p:blipFill>
          <a:blip r:embed="rId4"/>
          <a:stretch>
            <a:fillRect/>
          </a:stretch>
        </p:blipFill>
        <p:spPr>
          <a:xfrm>
            <a:off x="5511565" y="1616978"/>
            <a:ext cx="2922565" cy="3624044"/>
          </a:xfrm>
          <a:prstGeom prst="rect">
            <a:avLst/>
          </a:prstGeom>
          <a:ln>
            <a:noFill/>
          </a:ln>
          <a:effectLst>
            <a:softEdge rad="112500"/>
          </a:effectLst>
        </p:spPr>
      </p:pic>
      <p:sp>
        <p:nvSpPr>
          <p:cNvPr id="9" name="TextBox 8">
            <a:hlinkClick r:id="rId5"/>
            <a:extLst>
              <a:ext uri="{FF2B5EF4-FFF2-40B4-BE49-F238E27FC236}">
                <a16:creationId xmlns:a16="http://schemas.microsoft.com/office/drawing/2014/main" id="{B0994A83-0931-4E5E-1434-037FE837470D}"/>
              </a:ext>
            </a:extLst>
          </p:cNvPr>
          <p:cNvSpPr txBox="1"/>
          <p:nvPr/>
        </p:nvSpPr>
        <p:spPr>
          <a:xfrm>
            <a:off x="1426129" y="5470765"/>
            <a:ext cx="6702804" cy="646331"/>
          </a:xfrm>
          <a:prstGeom prst="rect">
            <a:avLst/>
          </a:prstGeom>
          <a:noFill/>
        </p:spPr>
        <p:txBody>
          <a:bodyPr wrap="square" rtlCol="0">
            <a:spAutoFit/>
          </a:bodyPr>
          <a:lstStyle/>
          <a:p>
            <a:r>
              <a:rPr lang="en-US" dirty="0"/>
              <a:t>Demo Link : </a:t>
            </a:r>
          </a:p>
          <a:p>
            <a:r>
              <a:rPr lang="en-US" dirty="0">
                <a:hlinkClick r:id="rId5"/>
              </a:rPr>
              <a:t>https://verdant-lamington-654a01</a:t>
            </a:r>
            <a:r>
              <a:rPr lang="en-US" dirty="0"/>
              <a:t>.</a:t>
            </a:r>
            <a:r>
              <a:rPr lang="en-US" dirty="0">
                <a:hlinkClick r:id="rId5"/>
              </a:rPr>
              <a:t>netlify.</a:t>
            </a:r>
            <a:r>
              <a:rPr lang="en-US" dirty="0">
                <a:solidFill>
                  <a:schemeClr val="accent1"/>
                </a:solidFill>
                <a:hlinkClick r:id="rId5"/>
              </a:rPr>
              <a:t>app/</a:t>
            </a:r>
            <a:endParaRPr lang="en-US" dirty="0">
              <a:solidFill>
                <a:schemeClr val="accent1"/>
              </a:solidFill>
            </a:endParaRPr>
          </a:p>
        </p:txBody>
      </p:sp>
    </p:spTree>
    <p:extLst>
      <p:ext uri="{BB962C8B-B14F-4D97-AF65-F5344CB8AC3E}">
        <p14:creationId xmlns:p14="http://schemas.microsoft.com/office/powerpoint/2010/main" val="144187894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F16A7259-E626-2FFF-0B7A-764320417C65}"/>
              </a:ext>
            </a:extLst>
          </p:cNvPr>
          <p:cNvSpPr/>
          <p:nvPr/>
        </p:nvSpPr>
        <p:spPr>
          <a:xfrm>
            <a:off x="7512449" y="3699356"/>
            <a:ext cx="3036029" cy="2358543"/>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1137359F-219E-072E-A934-D0D9D7E849FF}"/>
              </a:ext>
            </a:extLst>
          </p:cNvPr>
          <p:cNvSpPr/>
          <p:nvPr/>
        </p:nvSpPr>
        <p:spPr>
          <a:xfrm>
            <a:off x="7512191" y="2146552"/>
            <a:ext cx="3020789" cy="148818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C1A3A340-DB14-B1BC-0115-441ABC399B47}"/>
              </a:ext>
            </a:extLst>
          </p:cNvPr>
          <p:cNvSpPr/>
          <p:nvPr/>
        </p:nvSpPr>
        <p:spPr>
          <a:xfrm>
            <a:off x="4358913" y="2146552"/>
            <a:ext cx="3020788" cy="3911348"/>
          </a:xfrm>
          <a:prstGeom prst="rect">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362629A2-4923-435A-B4E4-B738709E38C4}"/>
              </a:ext>
            </a:extLst>
          </p:cNvPr>
          <p:cNvSpPr>
            <a:spLocks noGrp="1"/>
          </p:cNvSpPr>
          <p:nvPr>
            <p:ph idx="1"/>
          </p:nvPr>
        </p:nvSpPr>
        <p:spPr>
          <a:xfrm>
            <a:off x="838200" y="411061"/>
            <a:ext cx="10515600" cy="5765902"/>
          </a:xfrm>
          <a:ln>
            <a:solidFill>
              <a:schemeClr val="tx1"/>
            </a:solidFill>
          </a:ln>
        </p:spPr>
        <p:txBody>
          <a:bodyPr/>
          <a:lstStyle/>
          <a:p>
            <a:pPr marL="0" indent="0">
              <a:buNone/>
            </a:pPr>
            <a:endParaRPr lang="en-US" dirty="0"/>
          </a:p>
          <a:p>
            <a:pPr marL="0" indent="0">
              <a:buNone/>
            </a:pPr>
            <a:r>
              <a:rPr lang="en-US" dirty="0"/>
              <a:t>                                        </a:t>
            </a:r>
            <a:r>
              <a:rPr lang="en-US" b="1" dirty="0">
                <a:solidFill>
                  <a:schemeClr val="accent1"/>
                </a:solidFill>
              </a:rPr>
              <a:t>BUDGET PLANNING</a:t>
            </a:r>
          </a:p>
        </p:txBody>
      </p:sp>
      <p:pic>
        <p:nvPicPr>
          <p:cNvPr id="5" name="Picture 4">
            <a:extLst>
              <a:ext uri="{FF2B5EF4-FFF2-40B4-BE49-F238E27FC236}">
                <a16:creationId xmlns:a16="http://schemas.microsoft.com/office/drawing/2014/main" id="{866E56B6-79DC-8C14-48E2-944C760C39D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79559" y="553673"/>
            <a:ext cx="1753299" cy="1359017"/>
          </a:xfrm>
          <a:prstGeom prst="rect">
            <a:avLst/>
          </a:prstGeom>
        </p:spPr>
      </p:pic>
      <p:sp>
        <p:nvSpPr>
          <p:cNvPr id="6" name="TextBox 5">
            <a:extLst>
              <a:ext uri="{FF2B5EF4-FFF2-40B4-BE49-F238E27FC236}">
                <a16:creationId xmlns:a16="http://schemas.microsoft.com/office/drawing/2014/main" id="{B12B38FC-12FE-E0AD-5EE0-02451BD05F86}"/>
              </a:ext>
            </a:extLst>
          </p:cNvPr>
          <p:cNvSpPr txBox="1"/>
          <p:nvPr/>
        </p:nvSpPr>
        <p:spPr>
          <a:xfrm>
            <a:off x="959142" y="1728023"/>
            <a:ext cx="2852257" cy="369332"/>
          </a:xfrm>
          <a:prstGeom prst="rect">
            <a:avLst/>
          </a:prstGeom>
          <a:noFill/>
        </p:spPr>
        <p:txBody>
          <a:bodyPr wrap="square" rtlCol="0">
            <a:spAutoFit/>
          </a:bodyPr>
          <a:lstStyle/>
          <a:p>
            <a:r>
              <a:rPr lang="en-US" b="1" dirty="0">
                <a:solidFill>
                  <a:schemeClr val="accent1"/>
                </a:solidFill>
              </a:rPr>
              <a:t>Overall Budget : 4,00,000</a:t>
            </a:r>
          </a:p>
        </p:txBody>
      </p:sp>
      <p:sp>
        <p:nvSpPr>
          <p:cNvPr id="8" name="TextBox 7">
            <a:extLst>
              <a:ext uri="{FF2B5EF4-FFF2-40B4-BE49-F238E27FC236}">
                <a16:creationId xmlns:a16="http://schemas.microsoft.com/office/drawing/2014/main" id="{B5562772-335A-AD17-8386-60BAC79B8B6A}"/>
              </a:ext>
            </a:extLst>
          </p:cNvPr>
          <p:cNvSpPr txBox="1"/>
          <p:nvPr/>
        </p:nvSpPr>
        <p:spPr>
          <a:xfrm>
            <a:off x="896923" y="2152000"/>
            <a:ext cx="3314002" cy="3970318"/>
          </a:xfrm>
          <a:prstGeom prst="rect">
            <a:avLst/>
          </a:prstGeom>
          <a:noFill/>
          <a:ln>
            <a:solidFill>
              <a:schemeClr val="tx1"/>
            </a:solidFill>
          </a:ln>
        </p:spPr>
        <p:txBody>
          <a:bodyPr wrap="square" rtlCol="0">
            <a:spAutoFit/>
          </a:bodyPr>
          <a:lstStyle/>
          <a:p>
            <a:r>
              <a:rPr lang="en-US" b="1" u="sng" dirty="0"/>
              <a:t>Company Registration &amp; Legal Compliance </a:t>
            </a:r>
            <a:r>
              <a:rPr lang="en-US" b="1" dirty="0"/>
              <a:t>: </a:t>
            </a:r>
          </a:p>
          <a:p>
            <a:r>
              <a:rPr lang="en-US" b="1" dirty="0"/>
              <a:t>Private Limited Company Registration </a:t>
            </a:r>
            <a:r>
              <a:rPr lang="en-US" dirty="0"/>
              <a:t>: 10,000 – 25,000</a:t>
            </a:r>
          </a:p>
          <a:p>
            <a:r>
              <a:rPr lang="en-US" b="1" dirty="0"/>
              <a:t>GST Registration </a:t>
            </a:r>
            <a:r>
              <a:rPr lang="en-US" dirty="0"/>
              <a:t>: Free – 1,000</a:t>
            </a:r>
          </a:p>
          <a:p>
            <a:r>
              <a:rPr lang="en-US" b="1" dirty="0"/>
              <a:t>PAN &amp;TAN for Company </a:t>
            </a:r>
            <a:r>
              <a:rPr lang="en-US" dirty="0"/>
              <a:t>: 1,000 – 2,000</a:t>
            </a:r>
          </a:p>
          <a:p>
            <a:r>
              <a:rPr lang="en-US" b="1" dirty="0"/>
              <a:t>Trademark Registration </a:t>
            </a:r>
            <a:r>
              <a:rPr lang="en-US" dirty="0"/>
              <a:t>: 7,000 – 15,000</a:t>
            </a:r>
          </a:p>
          <a:p>
            <a:r>
              <a:rPr lang="en-US" b="1" dirty="0"/>
              <a:t>Licences</a:t>
            </a:r>
            <a:r>
              <a:rPr lang="en-US" dirty="0"/>
              <a:t> ( if food distribution involved ) : 5,000 – 20,000</a:t>
            </a:r>
          </a:p>
          <a:p>
            <a:r>
              <a:rPr lang="en-US" b="1" dirty="0"/>
              <a:t>Legal &amp; Consultancy Fees </a:t>
            </a:r>
            <a:r>
              <a:rPr lang="en-US" dirty="0"/>
              <a:t>: 10,000 – 30,000</a:t>
            </a:r>
          </a:p>
          <a:p>
            <a:r>
              <a:rPr lang="en-US" b="1" dirty="0"/>
              <a:t>Total</a:t>
            </a:r>
            <a:r>
              <a:rPr lang="en-US" dirty="0"/>
              <a:t> : ~ 90,000/-</a:t>
            </a:r>
          </a:p>
        </p:txBody>
      </p:sp>
      <p:sp>
        <p:nvSpPr>
          <p:cNvPr id="10" name="TextBox 9">
            <a:extLst>
              <a:ext uri="{FF2B5EF4-FFF2-40B4-BE49-F238E27FC236}">
                <a16:creationId xmlns:a16="http://schemas.microsoft.com/office/drawing/2014/main" id="{2D0D0213-C0FD-2A62-F209-E28DACBB319C}"/>
              </a:ext>
            </a:extLst>
          </p:cNvPr>
          <p:cNvSpPr txBox="1"/>
          <p:nvPr/>
        </p:nvSpPr>
        <p:spPr>
          <a:xfrm>
            <a:off x="4491403" y="2499027"/>
            <a:ext cx="2649142" cy="1200329"/>
          </a:xfrm>
          <a:prstGeom prst="rect">
            <a:avLst/>
          </a:prstGeom>
          <a:solidFill>
            <a:schemeClr val="bg1"/>
          </a:solidFill>
          <a:ln>
            <a:solidFill>
              <a:schemeClr val="bg1"/>
            </a:solidFill>
          </a:ln>
        </p:spPr>
        <p:txBody>
          <a:bodyPr wrap="square" rtlCol="0">
            <a:spAutoFit/>
          </a:bodyPr>
          <a:lstStyle/>
          <a:p>
            <a:r>
              <a:rPr lang="en-US" b="1" u="sng" dirty="0"/>
              <a:t>App Development  &amp; AI Integration </a:t>
            </a:r>
            <a:r>
              <a:rPr lang="en-US" dirty="0"/>
              <a:t>: 1,50,000</a:t>
            </a:r>
          </a:p>
          <a:p>
            <a:endParaRPr lang="en-US" dirty="0"/>
          </a:p>
          <a:p>
            <a:endParaRPr lang="en-US" dirty="0"/>
          </a:p>
        </p:txBody>
      </p:sp>
      <p:graphicFrame>
        <p:nvGraphicFramePr>
          <p:cNvPr id="12" name="Object 11">
            <a:extLst>
              <a:ext uri="{FF2B5EF4-FFF2-40B4-BE49-F238E27FC236}">
                <a16:creationId xmlns:a16="http://schemas.microsoft.com/office/drawing/2014/main" id="{DF8D43E9-7833-989A-F266-C8018A26EDAD}"/>
              </a:ext>
            </a:extLst>
          </p:cNvPr>
          <p:cNvGraphicFramePr>
            <a:graphicFrameLocks noChangeAspect="1"/>
          </p:cNvGraphicFramePr>
          <p:nvPr>
            <p:extLst>
              <p:ext uri="{D42A27DB-BD31-4B8C-83A1-F6EECF244321}">
                <p14:modId xmlns:p14="http://schemas.microsoft.com/office/powerpoint/2010/main" val="2910942395"/>
              </p:ext>
            </p:extLst>
          </p:nvPr>
        </p:nvGraphicFramePr>
        <p:xfrm>
          <a:off x="4594860" y="3758808"/>
          <a:ext cx="2553732" cy="1476132"/>
        </p:xfrm>
        <a:graphic>
          <a:graphicData uri="http://schemas.openxmlformats.org/presentationml/2006/ole">
            <mc:AlternateContent xmlns:mc="http://schemas.openxmlformats.org/markup-compatibility/2006">
              <mc:Choice xmlns:v="urn:schemas-microsoft-com:vml" Requires="v">
                <p:oleObj name="Packager Shell Object" showAsIcon="1" r:id="rId3" imgW="2826985" imgH="518081" progId="Package">
                  <p:embed/>
                </p:oleObj>
              </mc:Choice>
              <mc:Fallback>
                <p:oleObj name="Packager Shell Object" showAsIcon="1" r:id="rId3" imgW="2826985" imgH="518081" progId="Package">
                  <p:embed/>
                  <p:pic>
                    <p:nvPicPr>
                      <p:cNvPr id="0" name=""/>
                      <p:cNvPicPr/>
                      <p:nvPr/>
                    </p:nvPicPr>
                    <p:blipFill>
                      <a:blip r:embed="rId4"/>
                      <a:stretch>
                        <a:fillRect/>
                      </a:stretch>
                    </p:blipFill>
                    <p:spPr>
                      <a:xfrm>
                        <a:off x="4594860" y="3758808"/>
                        <a:ext cx="2553732" cy="1476132"/>
                      </a:xfrm>
                      <a:prstGeom prst="rect">
                        <a:avLst/>
                      </a:prstGeom>
                    </p:spPr>
                  </p:pic>
                </p:oleObj>
              </mc:Fallback>
            </mc:AlternateContent>
          </a:graphicData>
        </a:graphic>
      </p:graphicFrame>
      <p:sp>
        <p:nvSpPr>
          <p:cNvPr id="14" name="TextBox 13">
            <a:extLst>
              <a:ext uri="{FF2B5EF4-FFF2-40B4-BE49-F238E27FC236}">
                <a16:creationId xmlns:a16="http://schemas.microsoft.com/office/drawing/2014/main" id="{634099B3-383E-BF3B-8221-D130BA180335}"/>
              </a:ext>
            </a:extLst>
          </p:cNvPr>
          <p:cNvSpPr txBox="1"/>
          <p:nvPr/>
        </p:nvSpPr>
        <p:spPr>
          <a:xfrm flipH="1">
            <a:off x="7593933" y="2244333"/>
            <a:ext cx="2649142" cy="1200329"/>
          </a:xfrm>
          <a:prstGeom prst="rect">
            <a:avLst/>
          </a:prstGeom>
          <a:noFill/>
          <a:ln>
            <a:solidFill>
              <a:schemeClr val="bg1"/>
            </a:solidFill>
          </a:ln>
        </p:spPr>
        <p:txBody>
          <a:bodyPr wrap="square" rtlCol="0">
            <a:spAutoFit/>
          </a:bodyPr>
          <a:lstStyle/>
          <a:p>
            <a:r>
              <a:rPr lang="en-US" b="1" u="sng" dirty="0"/>
              <a:t>Marketing &amp; Launch :</a:t>
            </a:r>
          </a:p>
          <a:p>
            <a:r>
              <a:rPr lang="en-US" b="1" dirty="0"/>
              <a:t>Online Marketing </a:t>
            </a:r>
            <a:r>
              <a:rPr lang="en-US" dirty="0"/>
              <a:t>: 30,000</a:t>
            </a:r>
          </a:p>
          <a:p>
            <a:r>
              <a:rPr lang="en-US" b="1" dirty="0"/>
              <a:t>Branding &amp; Promotion </a:t>
            </a:r>
            <a:r>
              <a:rPr lang="en-US" dirty="0"/>
              <a:t>: 20,000</a:t>
            </a:r>
          </a:p>
        </p:txBody>
      </p:sp>
      <p:sp>
        <p:nvSpPr>
          <p:cNvPr id="16" name="TextBox 15">
            <a:extLst>
              <a:ext uri="{FF2B5EF4-FFF2-40B4-BE49-F238E27FC236}">
                <a16:creationId xmlns:a16="http://schemas.microsoft.com/office/drawing/2014/main" id="{432E94E5-ADF1-7B9C-8E2D-BB8A9066B2D4}"/>
              </a:ext>
            </a:extLst>
          </p:cNvPr>
          <p:cNvSpPr txBox="1"/>
          <p:nvPr/>
        </p:nvSpPr>
        <p:spPr>
          <a:xfrm>
            <a:off x="7615648" y="3699356"/>
            <a:ext cx="2800892" cy="2308324"/>
          </a:xfrm>
          <a:prstGeom prst="rect">
            <a:avLst/>
          </a:prstGeom>
          <a:noFill/>
        </p:spPr>
        <p:txBody>
          <a:bodyPr wrap="square" rtlCol="0">
            <a:spAutoFit/>
          </a:bodyPr>
          <a:lstStyle/>
          <a:p>
            <a:r>
              <a:rPr lang="en-US" b="1" u="sng" dirty="0"/>
              <a:t>Maintanence &amp; Miscellaneous </a:t>
            </a:r>
            <a:r>
              <a:rPr lang="en-US" b="1" dirty="0"/>
              <a:t>: </a:t>
            </a:r>
          </a:p>
          <a:p>
            <a:r>
              <a:rPr lang="en-US" b="1" dirty="0"/>
              <a:t>Server Hosting &amp; Database </a:t>
            </a:r>
            <a:r>
              <a:rPr lang="en-US" dirty="0"/>
              <a:t>(1 year) : 20,000</a:t>
            </a:r>
          </a:p>
          <a:p>
            <a:r>
              <a:rPr lang="en-US" b="1" dirty="0"/>
              <a:t>Updates &amp; Bug Fixes </a:t>
            </a:r>
            <a:r>
              <a:rPr lang="en-US" dirty="0"/>
              <a:t>: 30,000</a:t>
            </a:r>
          </a:p>
          <a:p>
            <a:r>
              <a:rPr lang="en-US" b="1" dirty="0"/>
              <a:t>Miscellaneous Expenses </a:t>
            </a:r>
            <a:r>
              <a:rPr lang="en-US" dirty="0"/>
              <a:t>: 50,000</a:t>
            </a:r>
          </a:p>
        </p:txBody>
      </p:sp>
    </p:spTree>
    <p:extLst>
      <p:ext uri="{BB962C8B-B14F-4D97-AF65-F5344CB8AC3E}">
        <p14:creationId xmlns:p14="http://schemas.microsoft.com/office/powerpoint/2010/main" val="283582823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38C589D-9934-A1DE-544D-2418AA6E80B7}"/>
              </a:ext>
            </a:extLst>
          </p:cNvPr>
          <p:cNvSpPr>
            <a:spLocks noGrp="1"/>
          </p:cNvSpPr>
          <p:nvPr>
            <p:ph idx="1"/>
          </p:nvPr>
        </p:nvSpPr>
        <p:spPr>
          <a:xfrm>
            <a:off x="838200" y="327171"/>
            <a:ext cx="10515600" cy="5849792"/>
          </a:xfrm>
          <a:ln>
            <a:solidFill>
              <a:schemeClr val="tx1"/>
            </a:solidFill>
          </a:ln>
        </p:spPr>
        <p:txBody>
          <a:bodyPr/>
          <a:lstStyle/>
          <a:p>
            <a:pPr marL="0" indent="0">
              <a:buNone/>
            </a:pPr>
            <a:endParaRPr lang="en-US" dirty="0"/>
          </a:p>
          <a:p>
            <a:pPr marL="0" indent="0">
              <a:buNone/>
            </a:pPr>
            <a:r>
              <a:rPr lang="en-US" dirty="0">
                <a:solidFill>
                  <a:schemeClr val="accent1"/>
                </a:solidFill>
              </a:rPr>
              <a:t>                                        </a:t>
            </a:r>
            <a:r>
              <a:rPr lang="en-US" b="1" dirty="0">
                <a:solidFill>
                  <a:schemeClr val="accent1"/>
                </a:solidFill>
              </a:rPr>
              <a:t>BUSINESS MODEL</a:t>
            </a:r>
          </a:p>
        </p:txBody>
      </p:sp>
      <p:pic>
        <p:nvPicPr>
          <p:cNvPr id="5" name="Picture 4">
            <a:extLst>
              <a:ext uri="{FF2B5EF4-FFF2-40B4-BE49-F238E27FC236}">
                <a16:creationId xmlns:a16="http://schemas.microsoft.com/office/drawing/2014/main" id="{7F45B014-5081-5446-3E07-4BBA104BCFF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62114" y="460631"/>
            <a:ext cx="1795244" cy="1368170"/>
          </a:xfrm>
          <a:prstGeom prst="rect">
            <a:avLst/>
          </a:prstGeom>
        </p:spPr>
      </p:pic>
      <p:sp>
        <p:nvSpPr>
          <p:cNvPr id="9" name="TextBox 8">
            <a:extLst>
              <a:ext uri="{FF2B5EF4-FFF2-40B4-BE49-F238E27FC236}">
                <a16:creationId xmlns:a16="http://schemas.microsoft.com/office/drawing/2014/main" id="{53FC8450-6EAC-2BC6-BD48-D43F0BA2CE85}"/>
              </a:ext>
            </a:extLst>
          </p:cNvPr>
          <p:cNvSpPr txBox="1"/>
          <p:nvPr/>
        </p:nvSpPr>
        <p:spPr>
          <a:xfrm>
            <a:off x="1027302" y="1962261"/>
            <a:ext cx="10130056" cy="3416320"/>
          </a:xfrm>
          <a:prstGeom prst="rect">
            <a:avLst/>
          </a:prstGeom>
          <a:noFill/>
        </p:spPr>
        <p:txBody>
          <a:bodyPr wrap="square">
            <a:spAutoFit/>
          </a:bodyPr>
          <a:lstStyle/>
          <a:p>
            <a:pPr algn="just"/>
            <a:r>
              <a:rPr lang="en-US" dirty="0"/>
              <a:t>The Food Wastage and Hunger Management App follows a social-impact–driven business model focused on sustainability rather than profit. The application is free to use for food donors, volunteers, NGOs, and beneficiaries to encourage maximum participation and social responsibility.</a:t>
            </a:r>
          </a:p>
          <a:p>
            <a:pPr algn="just"/>
            <a:endParaRPr lang="en-US" dirty="0"/>
          </a:p>
          <a:p>
            <a:pPr algn="just"/>
            <a:r>
              <a:rPr lang="en-US" dirty="0"/>
              <a:t>The platform partners with NGOs, food banks, government bodies, and community organizations to manage food collection and distribution efficiently. Operational sustainability is achieved through CSR funding, grants, sponsorships, and institutional partnerships.</a:t>
            </a:r>
          </a:p>
          <a:p>
            <a:pPr algn="just"/>
            <a:endParaRPr lang="en-US" dirty="0"/>
          </a:p>
          <a:p>
            <a:pPr algn="just"/>
            <a:r>
              <a:rPr lang="en-US" dirty="0"/>
              <a:t>In the long term, the app may generate revenue through premium analytics services for restaurants and hotels, logistics coordination support, and white-label solutions for NGOs and municipalities. This hybrid model ensures continuous operation, scalability, and long-term impact while maintaining its core mission of reducing food wastage and hunger.</a:t>
            </a:r>
          </a:p>
        </p:txBody>
      </p:sp>
    </p:spTree>
    <p:extLst>
      <p:ext uri="{BB962C8B-B14F-4D97-AF65-F5344CB8AC3E}">
        <p14:creationId xmlns:p14="http://schemas.microsoft.com/office/powerpoint/2010/main" val="318303042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C052AA1-35A5-A802-4215-6A5EA3C52E25}"/>
              </a:ext>
            </a:extLst>
          </p:cNvPr>
          <p:cNvSpPr>
            <a:spLocks noGrp="1"/>
          </p:cNvSpPr>
          <p:nvPr>
            <p:ph idx="1"/>
          </p:nvPr>
        </p:nvSpPr>
        <p:spPr>
          <a:xfrm>
            <a:off x="771087" y="352338"/>
            <a:ext cx="10671495" cy="6118240"/>
          </a:xfrm>
          <a:ln>
            <a:solidFill>
              <a:schemeClr val="tx1"/>
            </a:solidFill>
          </a:ln>
        </p:spPr>
        <p:txBody>
          <a:bodyPr/>
          <a:lstStyle/>
          <a:p>
            <a:pPr marL="0" indent="0">
              <a:buNone/>
            </a:pPr>
            <a:endParaRPr lang="en-US" dirty="0"/>
          </a:p>
          <a:p>
            <a:pPr marL="0" indent="0">
              <a:buNone/>
            </a:pPr>
            <a:r>
              <a:rPr lang="en-US" dirty="0"/>
              <a:t>                                       </a:t>
            </a:r>
            <a:r>
              <a:rPr lang="en-US" b="1" dirty="0">
                <a:solidFill>
                  <a:schemeClr val="accent1"/>
                </a:solidFill>
              </a:rPr>
              <a:t>IMPLEMENTATION PLAN</a:t>
            </a:r>
          </a:p>
        </p:txBody>
      </p:sp>
      <p:pic>
        <p:nvPicPr>
          <p:cNvPr id="5" name="Picture 4">
            <a:extLst>
              <a:ext uri="{FF2B5EF4-FFF2-40B4-BE49-F238E27FC236}">
                <a16:creationId xmlns:a16="http://schemas.microsoft.com/office/drawing/2014/main" id="{52088BD8-644E-B83F-6335-DED58040AA3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30561" y="528506"/>
            <a:ext cx="1627465" cy="1249959"/>
          </a:xfrm>
          <a:prstGeom prst="rect">
            <a:avLst/>
          </a:prstGeom>
        </p:spPr>
      </p:pic>
      <p:sp>
        <p:nvSpPr>
          <p:cNvPr id="9" name="TextBox 8">
            <a:extLst>
              <a:ext uri="{FF2B5EF4-FFF2-40B4-BE49-F238E27FC236}">
                <a16:creationId xmlns:a16="http://schemas.microsoft.com/office/drawing/2014/main" id="{61E44A99-4AE1-1753-E8BB-98AD745A1697}"/>
              </a:ext>
            </a:extLst>
          </p:cNvPr>
          <p:cNvSpPr txBox="1"/>
          <p:nvPr/>
        </p:nvSpPr>
        <p:spPr>
          <a:xfrm>
            <a:off x="1048624" y="2269960"/>
            <a:ext cx="10209402" cy="3416320"/>
          </a:xfrm>
          <a:prstGeom prst="rect">
            <a:avLst/>
          </a:prstGeom>
          <a:noFill/>
        </p:spPr>
        <p:txBody>
          <a:bodyPr wrap="square">
            <a:spAutoFit/>
          </a:bodyPr>
          <a:lstStyle/>
          <a:p>
            <a:pPr algn="just"/>
            <a:r>
              <a:rPr lang="en-US" b="1" dirty="0"/>
              <a:t>Requirement Analysis: </a:t>
            </a:r>
            <a:r>
              <a:rPr lang="en-US" dirty="0"/>
              <a:t>Identify users, features, and finalize system architecture.</a:t>
            </a:r>
          </a:p>
          <a:p>
            <a:pPr algn="just"/>
            <a:endParaRPr lang="en-US" dirty="0"/>
          </a:p>
          <a:p>
            <a:pPr algn="just"/>
            <a:r>
              <a:rPr lang="en-US" b="1" dirty="0"/>
              <a:t>UI/UX Design</a:t>
            </a:r>
            <a:r>
              <a:rPr lang="en-US" dirty="0"/>
              <a:t>: Design intuitive interfaces using Flutter and React Native.</a:t>
            </a:r>
          </a:p>
          <a:p>
            <a:pPr algn="just"/>
            <a:endParaRPr lang="en-US" dirty="0"/>
          </a:p>
          <a:p>
            <a:pPr algn="just"/>
            <a:r>
              <a:rPr lang="en-US" b="1" dirty="0"/>
              <a:t>Backend Developmen</a:t>
            </a:r>
            <a:r>
              <a:rPr lang="en-US" dirty="0"/>
              <a:t>t: Build APIs with Node.js, integrate Firebase authentication and MongoDB database.</a:t>
            </a:r>
          </a:p>
          <a:p>
            <a:pPr algn="just"/>
            <a:endParaRPr lang="en-US" dirty="0"/>
          </a:p>
          <a:p>
            <a:pPr algn="just"/>
            <a:r>
              <a:rPr lang="en-US" b="1" dirty="0"/>
              <a:t>Feature Integration</a:t>
            </a:r>
            <a:r>
              <a:rPr lang="en-US" dirty="0"/>
              <a:t>: Implement food listing, GPS-based matching, notifications, chatbot, and image recognition.</a:t>
            </a:r>
          </a:p>
          <a:p>
            <a:pPr algn="just"/>
            <a:endParaRPr lang="en-US" dirty="0"/>
          </a:p>
          <a:p>
            <a:pPr algn="just"/>
            <a:r>
              <a:rPr lang="en-US" b="1" dirty="0"/>
              <a:t>AI Implementation</a:t>
            </a:r>
            <a:r>
              <a:rPr lang="en-US" dirty="0"/>
              <a:t>: Develop AI-based recommendation system for efficient food redistribution.</a:t>
            </a:r>
          </a:p>
          <a:p>
            <a:pPr algn="just"/>
            <a:endParaRPr lang="en-US" dirty="0"/>
          </a:p>
          <a:p>
            <a:pPr algn="just"/>
            <a:r>
              <a:rPr lang="en-US" b="1" dirty="0"/>
              <a:t>Testing &amp; Deployment</a:t>
            </a:r>
            <a:r>
              <a:rPr lang="en-US" dirty="0"/>
              <a:t>: Test the application, deploy on cloud, and monitor performance.</a:t>
            </a:r>
          </a:p>
        </p:txBody>
      </p:sp>
    </p:spTree>
    <p:extLst>
      <p:ext uri="{BB962C8B-B14F-4D97-AF65-F5344CB8AC3E}">
        <p14:creationId xmlns:p14="http://schemas.microsoft.com/office/powerpoint/2010/main" val="7520767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EDD9650-752A-67A3-FD98-5D9352932934}"/>
              </a:ext>
            </a:extLst>
          </p:cNvPr>
          <p:cNvSpPr>
            <a:spLocks noGrp="1"/>
          </p:cNvSpPr>
          <p:nvPr>
            <p:ph idx="1"/>
          </p:nvPr>
        </p:nvSpPr>
        <p:spPr>
          <a:xfrm>
            <a:off x="838200" y="335560"/>
            <a:ext cx="10515600" cy="5841403"/>
          </a:xfrm>
          <a:ln>
            <a:solidFill>
              <a:schemeClr val="tx1"/>
            </a:solidFill>
          </a:ln>
        </p:spPr>
        <p:txBody>
          <a:bodyPr/>
          <a:lstStyle/>
          <a:p>
            <a:pPr marL="0" indent="0">
              <a:buNone/>
            </a:pPr>
            <a:endParaRPr lang="en-US" dirty="0"/>
          </a:p>
          <a:p>
            <a:pPr marL="0" indent="0">
              <a:buNone/>
            </a:pPr>
            <a:r>
              <a:rPr lang="en-US" b="1" dirty="0">
                <a:solidFill>
                  <a:schemeClr val="accent1"/>
                </a:solidFill>
              </a:rPr>
              <a:t>                                             ADVANTAGES</a:t>
            </a:r>
          </a:p>
        </p:txBody>
      </p:sp>
      <p:pic>
        <p:nvPicPr>
          <p:cNvPr id="5" name="Picture 4">
            <a:extLst>
              <a:ext uri="{FF2B5EF4-FFF2-40B4-BE49-F238E27FC236}">
                <a16:creationId xmlns:a16="http://schemas.microsoft.com/office/drawing/2014/main" id="{BEA34DC7-6CDD-58DC-D3DD-74B47F6AACE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72506" y="478173"/>
            <a:ext cx="1551964" cy="1392572"/>
          </a:xfrm>
          <a:prstGeom prst="rect">
            <a:avLst/>
          </a:prstGeom>
        </p:spPr>
      </p:pic>
      <p:sp>
        <p:nvSpPr>
          <p:cNvPr id="7" name="TextBox 6">
            <a:extLst>
              <a:ext uri="{FF2B5EF4-FFF2-40B4-BE49-F238E27FC236}">
                <a16:creationId xmlns:a16="http://schemas.microsoft.com/office/drawing/2014/main" id="{65878522-677E-6FFF-4833-2AFD6D0793DD}"/>
              </a:ext>
            </a:extLst>
          </p:cNvPr>
          <p:cNvSpPr txBox="1"/>
          <p:nvPr/>
        </p:nvSpPr>
        <p:spPr>
          <a:xfrm>
            <a:off x="876300" y="1929646"/>
            <a:ext cx="10439400" cy="4247317"/>
          </a:xfrm>
          <a:prstGeom prst="rect">
            <a:avLst/>
          </a:prstGeom>
          <a:noFill/>
        </p:spPr>
        <p:txBody>
          <a:bodyPr wrap="square">
            <a:spAutoFit/>
          </a:bodyPr>
          <a:lstStyle/>
          <a:p>
            <a:pPr marL="285750" indent="-285750" algn="just">
              <a:buFont typeface="Arial" panose="020B0604020202020204" pitchFamily="34" charset="0"/>
              <a:buChar char="•"/>
            </a:pPr>
            <a:r>
              <a:rPr lang="en-US" dirty="0"/>
              <a:t>Cross-platform support using Flutter and React Native increases accessibility.</a:t>
            </a:r>
          </a:p>
          <a:p>
            <a:pPr algn="just"/>
            <a:endParaRPr lang="en-US" dirty="0"/>
          </a:p>
          <a:p>
            <a:pPr marL="285750" indent="-285750" algn="just">
              <a:buFont typeface="Arial" panose="020B0604020202020204" pitchFamily="34" charset="0"/>
              <a:buChar char="•"/>
            </a:pPr>
            <a:r>
              <a:rPr lang="en-US" dirty="0"/>
              <a:t>Secure authentication and data handling through Firebase services.</a:t>
            </a:r>
          </a:p>
          <a:p>
            <a:pPr algn="just"/>
            <a:endParaRPr lang="en-US" dirty="0"/>
          </a:p>
          <a:p>
            <a:pPr marL="285750" indent="-285750" algn="just">
              <a:buFont typeface="Arial" panose="020B0604020202020204" pitchFamily="34" charset="0"/>
              <a:buChar char="•"/>
            </a:pPr>
            <a:r>
              <a:rPr lang="en-US" dirty="0"/>
              <a:t>Scalable backend with Node.js and MongoDB supports future expansion.</a:t>
            </a:r>
          </a:p>
          <a:p>
            <a:pPr algn="just"/>
            <a:endParaRPr lang="en-US" dirty="0"/>
          </a:p>
          <a:p>
            <a:pPr marL="285750" indent="-285750" algn="just">
              <a:buFont typeface="Arial" panose="020B0604020202020204" pitchFamily="34" charset="0"/>
              <a:buChar char="•"/>
            </a:pPr>
            <a:r>
              <a:rPr lang="en-US" dirty="0"/>
              <a:t>AI-based image recognition improves food quality assessment.</a:t>
            </a:r>
          </a:p>
          <a:p>
            <a:pPr algn="just"/>
            <a:endParaRPr lang="en-US" dirty="0"/>
          </a:p>
          <a:p>
            <a:pPr marL="285750" indent="-285750" algn="just">
              <a:buFont typeface="Arial" panose="020B0604020202020204" pitchFamily="34" charset="0"/>
              <a:buChar char="•"/>
            </a:pPr>
            <a:r>
              <a:rPr lang="en-US" dirty="0"/>
              <a:t>Chatbot support provides 24/7 assistance to users. </a:t>
            </a:r>
          </a:p>
          <a:p>
            <a:pPr marL="285750" indent="-285750" algn="just">
              <a:buFont typeface="Arial" panose="020B0604020202020204" pitchFamily="34" charset="0"/>
              <a:buChar char="•"/>
            </a:pPr>
            <a:endParaRPr lang="en-US" dirty="0"/>
          </a:p>
          <a:p>
            <a:pPr marL="285750" indent="-285750" algn="just">
              <a:buFont typeface="Arial" panose="020B0604020202020204" pitchFamily="34" charset="0"/>
              <a:buChar char="•"/>
            </a:pPr>
            <a:r>
              <a:rPr lang="en-US" dirty="0"/>
              <a:t>Location-based matching reduces delivery time and food spoilage.</a:t>
            </a:r>
          </a:p>
          <a:p>
            <a:pPr algn="just"/>
            <a:endParaRPr lang="en-US" dirty="0"/>
          </a:p>
          <a:p>
            <a:pPr marL="285750" indent="-285750" algn="just">
              <a:buFont typeface="Arial" panose="020B0604020202020204" pitchFamily="34" charset="0"/>
              <a:buChar char="•"/>
            </a:pPr>
            <a:r>
              <a:rPr lang="en-US" dirty="0"/>
              <a:t>Supports CSR, NGO, and government hunger-relief initiatives.</a:t>
            </a:r>
          </a:p>
          <a:p>
            <a:pPr algn="just"/>
            <a:endParaRPr lang="en-US" dirty="0"/>
          </a:p>
          <a:p>
            <a:pPr marL="285750" indent="-285750" algn="just">
              <a:buFont typeface="Arial" panose="020B0604020202020204" pitchFamily="34" charset="0"/>
              <a:buChar char="•"/>
            </a:pPr>
            <a:r>
              <a:rPr lang="en-US" dirty="0"/>
              <a:t>Cost-effective solution with high social impact.</a:t>
            </a:r>
          </a:p>
        </p:txBody>
      </p:sp>
    </p:spTree>
    <p:extLst>
      <p:ext uri="{BB962C8B-B14F-4D97-AF65-F5344CB8AC3E}">
        <p14:creationId xmlns:p14="http://schemas.microsoft.com/office/powerpoint/2010/main" val="2525356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E47355E-5984-3083-E030-AE547D743C4A}"/>
              </a:ext>
            </a:extLst>
          </p:cNvPr>
          <p:cNvSpPr>
            <a:spLocks noGrp="1"/>
          </p:cNvSpPr>
          <p:nvPr>
            <p:ph idx="1"/>
          </p:nvPr>
        </p:nvSpPr>
        <p:spPr>
          <a:xfrm>
            <a:off x="838200" y="394283"/>
            <a:ext cx="10515600" cy="5782680"/>
          </a:xfrm>
          <a:ln>
            <a:solidFill>
              <a:schemeClr val="tx1"/>
            </a:solidFill>
          </a:ln>
        </p:spPr>
        <p:txBody>
          <a:bodyPr/>
          <a:lstStyle/>
          <a:p>
            <a:pPr marL="0" indent="0">
              <a:buNone/>
            </a:pPr>
            <a:r>
              <a:rPr lang="en-US" dirty="0"/>
              <a:t>                                                    </a:t>
            </a:r>
          </a:p>
          <a:p>
            <a:pPr marL="0" indent="0">
              <a:buNone/>
            </a:pPr>
            <a:r>
              <a:rPr lang="en-US" b="1" dirty="0">
                <a:solidFill>
                  <a:schemeClr val="accent1"/>
                </a:solidFill>
              </a:rPr>
              <a:t>                                                       IMPACT</a:t>
            </a:r>
          </a:p>
        </p:txBody>
      </p:sp>
      <p:pic>
        <p:nvPicPr>
          <p:cNvPr id="5" name="Picture 4">
            <a:extLst>
              <a:ext uri="{FF2B5EF4-FFF2-40B4-BE49-F238E27FC236}">
                <a16:creationId xmlns:a16="http://schemas.microsoft.com/office/drawing/2014/main" id="{757AF6E3-4564-4D11-BB18-0FC643A2B41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605395" y="528507"/>
            <a:ext cx="1617442" cy="1317071"/>
          </a:xfrm>
          <a:prstGeom prst="rect">
            <a:avLst/>
          </a:prstGeom>
        </p:spPr>
      </p:pic>
      <p:sp>
        <p:nvSpPr>
          <p:cNvPr id="7" name="TextBox 6">
            <a:extLst>
              <a:ext uri="{FF2B5EF4-FFF2-40B4-BE49-F238E27FC236}">
                <a16:creationId xmlns:a16="http://schemas.microsoft.com/office/drawing/2014/main" id="{9E243B96-CF3C-078E-022D-76EB79313EF6}"/>
              </a:ext>
            </a:extLst>
          </p:cNvPr>
          <p:cNvSpPr txBox="1"/>
          <p:nvPr/>
        </p:nvSpPr>
        <p:spPr>
          <a:xfrm>
            <a:off x="922790" y="2303110"/>
            <a:ext cx="10149046" cy="3416320"/>
          </a:xfrm>
          <a:prstGeom prst="rect">
            <a:avLst/>
          </a:prstGeom>
          <a:noFill/>
        </p:spPr>
        <p:txBody>
          <a:bodyPr wrap="square">
            <a:spAutoFit/>
          </a:bodyPr>
          <a:lstStyle/>
          <a:p>
            <a:pPr marL="285750" indent="-285750" algn="just">
              <a:buFont typeface="Arial" panose="020B0604020202020204" pitchFamily="34" charset="0"/>
              <a:buChar char="•"/>
            </a:pPr>
            <a:r>
              <a:rPr lang="en-US" b="1" dirty="0"/>
              <a:t>Reduces Food Wastage</a:t>
            </a:r>
            <a:r>
              <a:rPr lang="en-US" dirty="0"/>
              <a:t>: Connects surplus food from homes, restaurants, and events to those in need, minimizing waste.</a:t>
            </a:r>
          </a:p>
          <a:p>
            <a:pPr algn="just"/>
            <a:endParaRPr lang="en-US" b="1" dirty="0"/>
          </a:p>
          <a:p>
            <a:pPr marL="285750" indent="-285750" algn="just">
              <a:buFont typeface="Arial" panose="020B0604020202020204" pitchFamily="34" charset="0"/>
              <a:buChar char="•"/>
            </a:pPr>
            <a:r>
              <a:rPr lang="en-US" b="1" dirty="0"/>
              <a:t>Fights Hunger</a:t>
            </a:r>
            <a:r>
              <a:rPr lang="en-US" dirty="0"/>
              <a:t>: Ensures timely redistribution of edible food to underprivileged communities.</a:t>
            </a:r>
          </a:p>
          <a:p>
            <a:pPr algn="just"/>
            <a:endParaRPr lang="en-US" b="1" dirty="0"/>
          </a:p>
          <a:p>
            <a:pPr marL="285750" indent="-285750" algn="just">
              <a:buFont typeface="Arial" panose="020B0604020202020204" pitchFamily="34" charset="0"/>
              <a:buChar char="•"/>
            </a:pPr>
            <a:r>
              <a:rPr lang="en-US" b="1" dirty="0"/>
              <a:t>Promotes Awareness</a:t>
            </a:r>
            <a:r>
              <a:rPr lang="en-US" dirty="0"/>
              <a:t>: Educates users on responsible food consumption and social responsibility.</a:t>
            </a:r>
          </a:p>
          <a:p>
            <a:pPr algn="just"/>
            <a:endParaRPr lang="en-US" b="1" dirty="0"/>
          </a:p>
          <a:p>
            <a:pPr marL="285750" indent="-285750" algn="just">
              <a:buFont typeface="Arial" panose="020B0604020202020204" pitchFamily="34" charset="0"/>
              <a:buChar char="•"/>
            </a:pPr>
            <a:r>
              <a:rPr lang="en-US" b="1" dirty="0"/>
              <a:t>Supports Sustainability</a:t>
            </a:r>
            <a:r>
              <a:rPr lang="en-US" dirty="0"/>
              <a:t>: Contributes to a circular food ecosystem and reduces environmental impact.</a:t>
            </a:r>
          </a:p>
          <a:p>
            <a:pPr algn="just"/>
            <a:endParaRPr lang="en-US" b="1" dirty="0"/>
          </a:p>
          <a:p>
            <a:pPr marL="285750" indent="-285750" algn="just">
              <a:buFont typeface="Arial" panose="020B0604020202020204" pitchFamily="34" charset="0"/>
              <a:buChar char="•"/>
            </a:pPr>
            <a:r>
              <a:rPr lang="en-US" b="1" dirty="0"/>
              <a:t>Community Engagement</a:t>
            </a:r>
            <a:r>
              <a:rPr lang="en-US" dirty="0"/>
              <a:t>: Encourages local participation and volunteerism for a social cause.</a:t>
            </a:r>
          </a:p>
          <a:p>
            <a:pPr algn="just"/>
            <a:endParaRPr lang="en-US" dirty="0"/>
          </a:p>
          <a:p>
            <a:pPr marL="285750" indent="-285750" algn="just">
              <a:buFont typeface="Arial" panose="020B0604020202020204" pitchFamily="34" charset="0"/>
              <a:buChar char="•"/>
            </a:pPr>
            <a:r>
              <a:rPr lang="en-US" b="1" dirty="0"/>
              <a:t>Data-Driven Insights</a:t>
            </a:r>
            <a:r>
              <a:rPr lang="en-US" dirty="0"/>
              <a:t>: Tracks food patterns to improve future distribution strategies.</a:t>
            </a:r>
          </a:p>
        </p:txBody>
      </p:sp>
      <p:pic>
        <p:nvPicPr>
          <p:cNvPr id="9" name="Picture 8">
            <a:extLst>
              <a:ext uri="{FF2B5EF4-FFF2-40B4-BE49-F238E27FC236}">
                <a16:creationId xmlns:a16="http://schemas.microsoft.com/office/drawing/2014/main" id="{BB50849E-FBA4-4CF0-D75E-50B34B3D7570}"/>
              </a:ext>
            </a:extLst>
          </p:cNvPr>
          <p:cNvPicPr>
            <a:picLocks noChangeAspect="1"/>
          </p:cNvPicPr>
          <p:nvPr/>
        </p:nvPicPr>
        <p:blipFill>
          <a:blip r:embed="rId3"/>
          <a:stretch>
            <a:fillRect/>
          </a:stretch>
        </p:blipFill>
        <p:spPr>
          <a:xfrm>
            <a:off x="1287945" y="681037"/>
            <a:ext cx="2403211" cy="1533657"/>
          </a:xfrm>
          <a:prstGeom prst="rect">
            <a:avLst/>
          </a:prstGeom>
        </p:spPr>
      </p:pic>
    </p:spTree>
    <p:extLst>
      <p:ext uri="{BB962C8B-B14F-4D97-AF65-F5344CB8AC3E}">
        <p14:creationId xmlns:p14="http://schemas.microsoft.com/office/powerpoint/2010/main" val="329981337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02C4625-9B78-3596-E48B-AF3CB8D20368}"/>
              </a:ext>
            </a:extLst>
          </p:cNvPr>
          <p:cNvSpPr>
            <a:spLocks noGrp="1"/>
          </p:cNvSpPr>
          <p:nvPr>
            <p:ph idx="1"/>
          </p:nvPr>
        </p:nvSpPr>
        <p:spPr>
          <a:xfrm>
            <a:off x="838200" y="293615"/>
            <a:ext cx="10515600" cy="5883348"/>
          </a:xfrm>
          <a:ln>
            <a:solidFill>
              <a:schemeClr val="tx1"/>
            </a:solidFill>
          </a:ln>
        </p:spPr>
        <p:txBody>
          <a:bodyPr/>
          <a:lstStyle/>
          <a:p>
            <a:pPr marL="0" indent="0">
              <a:buNone/>
            </a:pPr>
            <a:r>
              <a:rPr lang="en-US" dirty="0"/>
              <a:t>         </a:t>
            </a:r>
          </a:p>
          <a:p>
            <a:pPr marL="0" indent="0">
              <a:buNone/>
            </a:pPr>
            <a:r>
              <a:rPr lang="en-US" b="1" dirty="0"/>
              <a:t>                                                  </a:t>
            </a:r>
            <a:r>
              <a:rPr lang="en-US" b="1" dirty="0">
                <a:solidFill>
                  <a:schemeClr val="accent1"/>
                </a:solidFill>
              </a:rPr>
              <a:t>FEASIBILITY</a:t>
            </a:r>
          </a:p>
        </p:txBody>
      </p:sp>
      <p:pic>
        <p:nvPicPr>
          <p:cNvPr id="5" name="Picture 4">
            <a:extLst>
              <a:ext uri="{FF2B5EF4-FFF2-40B4-BE49-F238E27FC236}">
                <a16:creationId xmlns:a16="http://schemas.microsoft.com/office/drawing/2014/main" id="{03248E0F-391B-F4E0-D366-12C16AFA99C3}"/>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1503" y="478173"/>
            <a:ext cx="1535186" cy="1233182"/>
          </a:xfrm>
          <a:prstGeom prst="rect">
            <a:avLst/>
          </a:prstGeom>
        </p:spPr>
      </p:pic>
      <p:sp>
        <p:nvSpPr>
          <p:cNvPr id="7" name="TextBox 6">
            <a:extLst>
              <a:ext uri="{FF2B5EF4-FFF2-40B4-BE49-F238E27FC236}">
                <a16:creationId xmlns:a16="http://schemas.microsoft.com/office/drawing/2014/main" id="{A79BC4D1-5FDC-9842-EB67-10B9C8D481C0}"/>
              </a:ext>
            </a:extLst>
          </p:cNvPr>
          <p:cNvSpPr txBox="1"/>
          <p:nvPr/>
        </p:nvSpPr>
        <p:spPr>
          <a:xfrm>
            <a:off x="956344" y="2277943"/>
            <a:ext cx="10100345" cy="3416320"/>
          </a:xfrm>
          <a:prstGeom prst="rect">
            <a:avLst/>
          </a:prstGeom>
          <a:noFill/>
        </p:spPr>
        <p:txBody>
          <a:bodyPr wrap="square">
            <a:spAutoFit/>
          </a:bodyPr>
          <a:lstStyle/>
          <a:p>
            <a:pPr marL="342900" indent="-342900">
              <a:buFont typeface="+mj-lt"/>
              <a:buAutoNum type="arabicPeriod"/>
            </a:pPr>
            <a:r>
              <a:rPr lang="en-US" b="1" dirty="0"/>
              <a:t>Reduces Food Wastage</a:t>
            </a:r>
            <a:r>
              <a:rPr lang="en-US" dirty="0"/>
              <a:t>: Connects surplus food from homes, restaurants, and events to those in need, minimizing waste.</a:t>
            </a:r>
          </a:p>
          <a:p>
            <a:endParaRPr lang="en-US" dirty="0"/>
          </a:p>
          <a:p>
            <a:r>
              <a:rPr lang="en-US" b="1" dirty="0"/>
              <a:t>2.  Fights Hunger</a:t>
            </a:r>
            <a:r>
              <a:rPr lang="en-US" dirty="0"/>
              <a:t>: Ensures timely redistribution of edible food to underprivileged communities.</a:t>
            </a:r>
          </a:p>
          <a:p>
            <a:endParaRPr lang="en-US" dirty="0"/>
          </a:p>
          <a:p>
            <a:r>
              <a:rPr lang="en-US" b="1" dirty="0"/>
              <a:t>3.  Promotes Awareness</a:t>
            </a:r>
            <a:r>
              <a:rPr lang="en-US" dirty="0"/>
              <a:t>: Educates users on responsible food consumption and social responsibility.</a:t>
            </a:r>
          </a:p>
          <a:p>
            <a:endParaRPr lang="en-US" b="1" dirty="0"/>
          </a:p>
          <a:p>
            <a:r>
              <a:rPr lang="en-US" b="1" dirty="0"/>
              <a:t>4.  Supports Sustainability</a:t>
            </a:r>
            <a:r>
              <a:rPr lang="en-US" dirty="0"/>
              <a:t>: Contributes to a circular food ecosystem and reduces environmental impact.</a:t>
            </a:r>
          </a:p>
          <a:p>
            <a:endParaRPr lang="en-US" b="1" dirty="0"/>
          </a:p>
          <a:p>
            <a:r>
              <a:rPr lang="en-US" b="1" dirty="0"/>
              <a:t>5.  Community Engagement</a:t>
            </a:r>
            <a:r>
              <a:rPr lang="en-US" dirty="0"/>
              <a:t>: Encourages local participation and volunteerism for a social cause.</a:t>
            </a:r>
          </a:p>
          <a:p>
            <a:endParaRPr lang="en-US" b="1" dirty="0"/>
          </a:p>
          <a:p>
            <a:r>
              <a:rPr lang="en-US" b="1" dirty="0"/>
              <a:t>6.  Data-Driven Insights</a:t>
            </a:r>
            <a:r>
              <a:rPr lang="en-US" dirty="0"/>
              <a:t>: Tracks food patterns to improve future distribution strategies.</a:t>
            </a:r>
          </a:p>
        </p:txBody>
      </p:sp>
    </p:spTree>
    <p:extLst>
      <p:ext uri="{BB962C8B-B14F-4D97-AF65-F5344CB8AC3E}">
        <p14:creationId xmlns:p14="http://schemas.microsoft.com/office/powerpoint/2010/main" val="168578590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06AE4E9-7043-44B1-F9ED-F3770C34558E}"/>
              </a:ext>
            </a:extLst>
          </p:cNvPr>
          <p:cNvSpPr>
            <a:spLocks noGrp="1"/>
          </p:cNvSpPr>
          <p:nvPr>
            <p:ph idx="1"/>
          </p:nvPr>
        </p:nvSpPr>
        <p:spPr>
          <a:xfrm>
            <a:off x="838200" y="385894"/>
            <a:ext cx="10515600" cy="5791069"/>
          </a:xfrm>
          <a:ln>
            <a:solidFill>
              <a:schemeClr val="tx1"/>
            </a:solidFill>
          </a:ln>
        </p:spPr>
        <p:txBody>
          <a:bodyPr/>
          <a:lstStyle/>
          <a:p>
            <a:pPr marL="0" indent="0">
              <a:buNone/>
            </a:pPr>
            <a:r>
              <a:rPr lang="en-US" dirty="0"/>
              <a:t> </a:t>
            </a:r>
          </a:p>
          <a:p>
            <a:pPr marL="0" indent="0">
              <a:buNone/>
            </a:pPr>
            <a:r>
              <a:rPr lang="en-US" dirty="0"/>
              <a:t>                                                </a:t>
            </a:r>
            <a:r>
              <a:rPr lang="en-US" b="1" dirty="0">
                <a:solidFill>
                  <a:schemeClr val="accent1"/>
                </a:solidFill>
              </a:rPr>
              <a:t>LIMITATIONS</a:t>
            </a:r>
          </a:p>
        </p:txBody>
      </p:sp>
      <p:pic>
        <p:nvPicPr>
          <p:cNvPr id="5" name="Picture 4">
            <a:extLst>
              <a:ext uri="{FF2B5EF4-FFF2-40B4-BE49-F238E27FC236}">
                <a16:creationId xmlns:a16="http://schemas.microsoft.com/office/drawing/2014/main" id="{F0FB1E17-9E7D-F144-FD30-E2494E8BB4B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13115" y="578839"/>
            <a:ext cx="1593909" cy="1199627"/>
          </a:xfrm>
          <a:prstGeom prst="rect">
            <a:avLst/>
          </a:prstGeom>
        </p:spPr>
      </p:pic>
      <p:sp>
        <p:nvSpPr>
          <p:cNvPr id="7" name="TextBox 6">
            <a:extLst>
              <a:ext uri="{FF2B5EF4-FFF2-40B4-BE49-F238E27FC236}">
                <a16:creationId xmlns:a16="http://schemas.microsoft.com/office/drawing/2014/main" id="{8C54FEFE-90E4-E86F-24FB-FE03298CADA1}"/>
              </a:ext>
            </a:extLst>
          </p:cNvPr>
          <p:cNvSpPr txBox="1"/>
          <p:nvPr/>
        </p:nvSpPr>
        <p:spPr>
          <a:xfrm>
            <a:off x="998289" y="2343884"/>
            <a:ext cx="9873843" cy="3139321"/>
          </a:xfrm>
          <a:prstGeom prst="rect">
            <a:avLst/>
          </a:prstGeom>
          <a:noFill/>
        </p:spPr>
        <p:txBody>
          <a:bodyPr wrap="square">
            <a:spAutoFit/>
          </a:bodyPr>
          <a:lstStyle/>
          <a:p>
            <a:r>
              <a:rPr lang="en-US" b="1" dirty="0"/>
              <a:t>1.  Dependence on User Participation</a:t>
            </a:r>
            <a:r>
              <a:rPr lang="en-US" dirty="0"/>
              <a:t>: Effectiveness relies on active donors, NGOs, and volunteers.</a:t>
            </a:r>
          </a:p>
          <a:p>
            <a:endParaRPr lang="en-US" dirty="0"/>
          </a:p>
          <a:p>
            <a:r>
              <a:rPr lang="en-US" b="1" dirty="0"/>
              <a:t>2.  Logistics Challenges</a:t>
            </a:r>
            <a:r>
              <a:rPr lang="en-US" dirty="0"/>
              <a:t>: Timely collection and delivery of food may be difficult in remote areas.</a:t>
            </a:r>
          </a:p>
          <a:p>
            <a:endParaRPr lang="en-US" dirty="0"/>
          </a:p>
          <a:p>
            <a:r>
              <a:rPr lang="en-US" b="1" dirty="0"/>
              <a:t>3.  Food Quality Assurance</a:t>
            </a:r>
            <a:r>
              <a:rPr lang="en-US" dirty="0"/>
              <a:t>: Ensuring freshness and safety of donated food can be challenging.</a:t>
            </a:r>
          </a:p>
          <a:p>
            <a:endParaRPr lang="en-US" dirty="0"/>
          </a:p>
          <a:p>
            <a:r>
              <a:rPr lang="en-US" b="1" dirty="0"/>
              <a:t>4.  Internet Requirement</a:t>
            </a:r>
            <a:r>
              <a:rPr lang="en-US" dirty="0"/>
              <a:t>: System requires stable internet connectivity for real-time updates.</a:t>
            </a:r>
          </a:p>
          <a:p>
            <a:endParaRPr lang="en-US" dirty="0"/>
          </a:p>
          <a:p>
            <a:r>
              <a:rPr lang="en-US" b="1" dirty="0"/>
              <a:t>5.  Initial Adoption Barriers</a:t>
            </a:r>
            <a:r>
              <a:rPr lang="en-US" dirty="0"/>
              <a:t>: Awareness and trust-building among users may take time.</a:t>
            </a:r>
          </a:p>
          <a:p>
            <a:endParaRPr lang="en-US" dirty="0"/>
          </a:p>
          <a:p>
            <a:r>
              <a:rPr lang="en-US" b="1" dirty="0"/>
              <a:t>6.  Limited Coverage Initially</a:t>
            </a:r>
            <a:r>
              <a:rPr lang="en-US" dirty="0"/>
              <a:t>: Service may be restricted to selected locations in early stages.</a:t>
            </a:r>
          </a:p>
        </p:txBody>
      </p:sp>
    </p:spTree>
    <p:extLst>
      <p:ext uri="{BB962C8B-B14F-4D97-AF65-F5344CB8AC3E}">
        <p14:creationId xmlns:p14="http://schemas.microsoft.com/office/powerpoint/2010/main" val="93675704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9E660BF-79C0-FB1C-7C99-15F019E851D6}"/>
              </a:ext>
            </a:extLst>
          </p:cNvPr>
          <p:cNvSpPr>
            <a:spLocks noGrp="1"/>
          </p:cNvSpPr>
          <p:nvPr>
            <p:ph idx="1"/>
          </p:nvPr>
        </p:nvSpPr>
        <p:spPr>
          <a:xfrm>
            <a:off x="838200" y="461394"/>
            <a:ext cx="10515600" cy="5715569"/>
          </a:xfrm>
          <a:ln>
            <a:solidFill>
              <a:schemeClr val="tx1"/>
            </a:solidFill>
          </a:ln>
        </p:spPr>
        <p:txBody>
          <a:bodyPr/>
          <a:lstStyle/>
          <a:p>
            <a:pPr marL="0" indent="0">
              <a:buNone/>
            </a:pPr>
            <a:endParaRPr lang="en-US" dirty="0"/>
          </a:p>
          <a:p>
            <a:pPr marL="0" indent="0">
              <a:buNone/>
            </a:pPr>
            <a:r>
              <a:rPr lang="en-US" b="1" dirty="0">
                <a:solidFill>
                  <a:schemeClr val="accent1"/>
                </a:solidFill>
              </a:rPr>
              <a:t>                                             FUTURE SCOPE</a:t>
            </a:r>
          </a:p>
        </p:txBody>
      </p:sp>
      <p:pic>
        <p:nvPicPr>
          <p:cNvPr id="5" name="Picture 4">
            <a:extLst>
              <a:ext uri="{FF2B5EF4-FFF2-40B4-BE49-F238E27FC236}">
                <a16:creationId xmlns:a16="http://schemas.microsoft.com/office/drawing/2014/main" id="{70CAE637-E86C-2894-2342-5DA47CF32C61}"/>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496338" y="681037"/>
            <a:ext cx="1597402" cy="1082181"/>
          </a:xfrm>
          <a:prstGeom prst="rect">
            <a:avLst/>
          </a:prstGeom>
        </p:spPr>
      </p:pic>
      <p:sp>
        <p:nvSpPr>
          <p:cNvPr id="7" name="TextBox 6">
            <a:extLst>
              <a:ext uri="{FF2B5EF4-FFF2-40B4-BE49-F238E27FC236}">
                <a16:creationId xmlns:a16="http://schemas.microsoft.com/office/drawing/2014/main" id="{15D52FD9-D8E7-EED3-D74F-A92F9F57E43F}"/>
              </a:ext>
            </a:extLst>
          </p:cNvPr>
          <p:cNvSpPr txBox="1"/>
          <p:nvPr/>
        </p:nvSpPr>
        <p:spPr>
          <a:xfrm>
            <a:off x="838200" y="2591441"/>
            <a:ext cx="10632347" cy="3139321"/>
          </a:xfrm>
          <a:prstGeom prst="rect">
            <a:avLst/>
          </a:prstGeom>
          <a:noFill/>
        </p:spPr>
        <p:txBody>
          <a:bodyPr wrap="square">
            <a:spAutoFit/>
          </a:bodyPr>
          <a:lstStyle/>
          <a:p>
            <a:r>
              <a:rPr lang="en-US" b="1" dirty="0"/>
              <a:t>1. Wider Geographic Expansion</a:t>
            </a:r>
            <a:r>
              <a:rPr lang="en-US" dirty="0"/>
              <a:t>: Extend services to multiple cities, states, and rural areas.</a:t>
            </a:r>
          </a:p>
          <a:p>
            <a:endParaRPr lang="en-US" dirty="0"/>
          </a:p>
          <a:p>
            <a:r>
              <a:rPr lang="en-US" b="1" dirty="0"/>
              <a:t>2. Advanced AI Integration</a:t>
            </a:r>
            <a:r>
              <a:rPr lang="en-US" dirty="0"/>
              <a:t>: Improve food matching, demand prediction, and waste reduction using AI.</a:t>
            </a:r>
          </a:p>
          <a:p>
            <a:endParaRPr lang="en-US" dirty="0"/>
          </a:p>
          <a:p>
            <a:r>
              <a:rPr lang="en-US" b="1" dirty="0"/>
              <a:t>3. Government &amp; NGO Collaboration</a:t>
            </a:r>
            <a:r>
              <a:rPr lang="en-US" dirty="0"/>
              <a:t>: Partner with public bodies for large-scale impact.</a:t>
            </a:r>
          </a:p>
          <a:p>
            <a:endParaRPr lang="en-US" dirty="0"/>
          </a:p>
          <a:p>
            <a:r>
              <a:rPr lang="en-US" b="1" dirty="0"/>
              <a:t>4. Real-Time Logistics Tracking</a:t>
            </a:r>
            <a:r>
              <a:rPr lang="en-US" dirty="0"/>
              <a:t>: Integrate GPS and route optimization for faster delivery.</a:t>
            </a:r>
          </a:p>
          <a:p>
            <a:endParaRPr lang="en-US" dirty="0"/>
          </a:p>
          <a:p>
            <a:r>
              <a:rPr lang="en-US" b="1" dirty="0"/>
              <a:t>5. Multi-Language Suppor</a:t>
            </a:r>
            <a:r>
              <a:rPr lang="en-US" dirty="0"/>
              <a:t>t: Enable regional languages to increase accessibility.</a:t>
            </a:r>
          </a:p>
          <a:p>
            <a:endParaRPr lang="en-US" dirty="0"/>
          </a:p>
          <a:p>
            <a:r>
              <a:rPr lang="en-US" b="1" dirty="0"/>
              <a:t>6. Monetization &amp; Sustainability</a:t>
            </a:r>
            <a:r>
              <a:rPr lang="en-US" dirty="0"/>
              <a:t>: Introduce CSR partnerships and premium services for long-term sustainability.</a:t>
            </a:r>
          </a:p>
        </p:txBody>
      </p:sp>
    </p:spTree>
    <p:extLst>
      <p:ext uri="{BB962C8B-B14F-4D97-AF65-F5344CB8AC3E}">
        <p14:creationId xmlns:p14="http://schemas.microsoft.com/office/powerpoint/2010/main" val="21392799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A82CDF-D4C3-66CB-0BAC-1A5460615C77}"/>
              </a:ext>
            </a:extLst>
          </p:cNvPr>
          <p:cNvSpPr>
            <a:spLocks noGrp="1"/>
          </p:cNvSpPr>
          <p:nvPr>
            <p:ph idx="1"/>
          </p:nvPr>
        </p:nvSpPr>
        <p:spPr>
          <a:xfrm>
            <a:off x="838200" y="360727"/>
            <a:ext cx="10515600" cy="5816236"/>
          </a:xfrm>
          <a:ln>
            <a:solidFill>
              <a:schemeClr val="tx1"/>
            </a:solidFill>
          </a:ln>
        </p:spPr>
        <p:txBody>
          <a:bodyPr/>
          <a:lstStyle/>
          <a:p>
            <a:pPr marL="0" indent="0">
              <a:buNone/>
            </a:pPr>
            <a:endParaRPr lang="en-US" dirty="0"/>
          </a:p>
          <a:p>
            <a:pPr marL="0" indent="0">
              <a:buNone/>
            </a:pPr>
            <a:r>
              <a:rPr lang="en-US" dirty="0"/>
              <a:t>                                               </a:t>
            </a:r>
            <a:r>
              <a:rPr lang="en-US" b="1" dirty="0">
                <a:solidFill>
                  <a:schemeClr val="accent1"/>
                </a:solidFill>
              </a:rPr>
              <a:t>CONCLUSION</a:t>
            </a:r>
          </a:p>
        </p:txBody>
      </p:sp>
      <p:pic>
        <p:nvPicPr>
          <p:cNvPr id="5" name="Picture 4">
            <a:extLst>
              <a:ext uri="{FF2B5EF4-FFF2-40B4-BE49-F238E27FC236}">
                <a16:creationId xmlns:a16="http://schemas.microsoft.com/office/drawing/2014/main" id="{4A8AC29C-D40E-A9E1-FC7F-7CF8F5661F67}"/>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21505" y="562064"/>
            <a:ext cx="1541940" cy="1409350"/>
          </a:xfrm>
          <a:prstGeom prst="rect">
            <a:avLst/>
          </a:prstGeom>
        </p:spPr>
      </p:pic>
      <p:sp>
        <p:nvSpPr>
          <p:cNvPr id="7" name="TextBox 6">
            <a:extLst>
              <a:ext uri="{FF2B5EF4-FFF2-40B4-BE49-F238E27FC236}">
                <a16:creationId xmlns:a16="http://schemas.microsoft.com/office/drawing/2014/main" id="{DAF477FB-2D18-BAFB-4B36-CC73EC51B475}"/>
              </a:ext>
            </a:extLst>
          </p:cNvPr>
          <p:cNvSpPr txBox="1"/>
          <p:nvPr/>
        </p:nvSpPr>
        <p:spPr>
          <a:xfrm>
            <a:off x="991299" y="2415272"/>
            <a:ext cx="10209402" cy="1477328"/>
          </a:xfrm>
          <a:prstGeom prst="rect">
            <a:avLst/>
          </a:prstGeom>
          <a:noFill/>
        </p:spPr>
        <p:txBody>
          <a:bodyPr wrap="square">
            <a:spAutoFit/>
          </a:bodyPr>
          <a:lstStyle/>
          <a:p>
            <a:pPr algn="just"/>
            <a:r>
              <a:rPr lang="en-US" dirty="0"/>
              <a:t>The Food Wastage and Hunger Management System provides an effective digital solution to reduce food wastage while addressing hunger. By connecting food donors, NGOs, and volunteers through a single platform, the system ensures timely food redistribution. With the use of modern technologies and AI-driven insights, the solution is scalable, cost-effective, and sustainable. This initiative not only supports social welfare but also promotes responsible food consumption and community participation.</a:t>
            </a:r>
          </a:p>
        </p:txBody>
      </p:sp>
    </p:spTree>
    <p:extLst>
      <p:ext uri="{BB962C8B-B14F-4D97-AF65-F5344CB8AC3E}">
        <p14:creationId xmlns:p14="http://schemas.microsoft.com/office/powerpoint/2010/main" val="17272529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DC65A20-3569-48B5-D702-5969D7927081}"/>
              </a:ext>
            </a:extLst>
          </p:cNvPr>
          <p:cNvSpPr>
            <a:spLocks noGrp="1"/>
          </p:cNvSpPr>
          <p:nvPr>
            <p:ph idx="1"/>
          </p:nvPr>
        </p:nvSpPr>
        <p:spPr>
          <a:xfrm>
            <a:off x="724989" y="541854"/>
            <a:ext cx="10515600" cy="5774291"/>
          </a:xfrm>
          <a:ln>
            <a:solidFill>
              <a:schemeClr val="tx1"/>
            </a:solidFill>
          </a:ln>
        </p:spPr>
        <p:txBody>
          <a:bodyPr>
            <a:normAutofit/>
          </a:bodyPr>
          <a:lstStyle/>
          <a:p>
            <a:pPr marL="0" indent="0">
              <a:buNone/>
            </a:pPr>
            <a:r>
              <a:rPr lang="en-US" sz="9600" dirty="0"/>
              <a:t>                                         </a:t>
            </a:r>
            <a:r>
              <a:rPr lang="en-US" sz="9600" dirty="0">
                <a:latin typeface="Algerian" panose="04020705040A02060702" pitchFamily="82" charset="0"/>
              </a:rPr>
              <a:t>Thank You</a:t>
            </a:r>
          </a:p>
        </p:txBody>
      </p:sp>
      <p:sp>
        <p:nvSpPr>
          <p:cNvPr id="4" name="TextBox 3">
            <a:extLst>
              <a:ext uri="{FF2B5EF4-FFF2-40B4-BE49-F238E27FC236}">
                <a16:creationId xmlns:a16="http://schemas.microsoft.com/office/drawing/2014/main" id="{ABB08FB9-65D9-5E81-08E4-FBC411E1EDD5}"/>
              </a:ext>
            </a:extLst>
          </p:cNvPr>
          <p:cNvSpPr txBox="1"/>
          <p:nvPr/>
        </p:nvSpPr>
        <p:spPr>
          <a:xfrm>
            <a:off x="2063691" y="3926048"/>
            <a:ext cx="6274965" cy="1200329"/>
          </a:xfrm>
          <a:prstGeom prst="rect">
            <a:avLst/>
          </a:prstGeom>
          <a:noFill/>
        </p:spPr>
        <p:txBody>
          <a:bodyPr wrap="square" rtlCol="0">
            <a:spAutoFit/>
          </a:bodyPr>
          <a:lstStyle/>
          <a:p>
            <a:pPr marL="285750" indent="-285750">
              <a:buFont typeface="Arial" panose="020B0604020202020204" pitchFamily="34" charset="0"/>
              <a:buChar char="•"/>
            </a:pPr>
            <a:r>
              <a:rPr lang="en-US" dirty="0"/>
              <a:t>Any Questions ??</a:t>
            </a:r>
          </a:p>
          <a:p>
            <a:pPr marL="285750" indent="-285750">
              <a:buFont typeface="Arial" panose="020B0604020202020204" pitchFamily="34" charset="0"/>
              <a:buChar char="•"/>
            </a:pPr>
            <a:endParaRPr lang="en-US" dirty="0"/>
          </a:p>
          <a:p>
            <a:pPr marL="285750" indent="-285750">
              <a:buFont typeface="Arial" panose="020B0604020202020204" pitchFamily="34" charset="0"/>
              <a:buChar char="•"/>
            </a:pPr>
            <a:r>
              <a:rPr lang="en-US" dirty="0"/>
              <a:t>“Together, we can reduce food wastage and fight hunger.”</a:t>
            </a:r>
          </a:p>
          <a:p>
            <a:endParaRPr lang="en-US" dirty="0"/>
          </a:p>
        </p:txBody>
      </p:sp>
      <p:pic>
        <p:nvPicPr>
          <p:cNvPr id="5" name="Picture 4">
            <a:extLst>
              <a:ext uri="{FF2B5EF4-FFF2-40B4-BE49-F238E27FC236}">
                <a16:creationId xmlns:a16="http://schemas.microsoft.com/office/drawing/2014/main" id="{A47FBB67-4AB9-0C43-14CD-2906D52B0852}"/>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540240" y="662940"/>
            <a:ext cx="1607820" cy="1402080"/>
          </a:xfrm>
          <a:prstGeom prst="rect">
            <a:avLst/>
          </a:prstGeom>
        </p:spPr>
      </p:pic>
    </p:spTree>
    <p:extLst>
      <p:ext uri="{BB962C8B-B14F-4D97-AF65-F5344CB8AC3E}">
        <p14:creationId xmlns:p14="http://schemas.microsoft.com/office/powerpoint/2010/main" val="118602310"/>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TM04033925[[fn=Droplet]]</Template>
  <TotalTime>372</TotalTime>
  <Words>2593</Words>
  <Application>Microsoft Office PowerPoint</Application>
  <PresentationFormat>Widescreen</PresentationFormat>
  <Paragraphs>209</Paragraphs>
  <Slides>23</Slides>
  <Notes>0</Notes>
  <HiddenSlides>0</HiddenSlides>
  <MMClips>0</MMClips>
  <ScaleCrop>false</ScaleCrop>
  <HeadingPairs>
    <vt:vector size="8" baseType="variant">
      <vt:variant>
        <vt:lpstr>Fonts Used</vt:lpstr>
      </vt:variant>
      <vt:variant>
        <vt:i4>4</vt:i4>
      </vt:variant>
      <vt:variant>
        <vt:lpstr>Theme</vt:lpstr>
      </vt:variant>
      <vt:variant>
        <vt:i4>1</vt:i4>
      </vt:variant>
      <vt:variant>
        <vt:lpstr>Embedded OLE Servers</vt:lpstr>
      </vt:variant>
      <vt:variant>
        <vt:i4>1</vt:i4>
      </vt:variant>
      <vt:variant>
        <vt:lpstr>Slide Titles</vt:lpstr>
      </vt:variant>
      <vt:variant>
        <vt:i4>23</vt:i4>
      </vt:variant>
    </vt:vector>
  </HeadingPairs>
  <TitlesOfParts>
    <vt:vector size="29" baseType="lpstr">
      <vt:lpstr>Algerian</vt:lpstr>
      <vt:lpstr>Arial</vt:lpstr>
      <vt:lpstr>Calibri</vt:lpstr>
      <vt:lpstr>Calibri Light</vt:lpstr>
      <vt:lpstr>Office Theme</vt:lpstr>
      <vt:lpstr>Packager Shell Object</vt:lpstr>
      <vt:lpstr>HOLY MARY INSTITUTE OF TECHNOLOGY AND SCIENCE UGC-AUTONOMOUS, Accredited by NAAC – A Grade    AICTE, Recognized by UGC Under section 2(f) &amp; 12(B), permanently Affiliated to JNTUH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Sahithi Buddy</dc:creator>
  <cp:lastModifiedBy>durga prasad</cp:lastModifiedBy>
  <cp:revision>7</cp:revision>
  <dcterms:created xsi:type="dcterms:W3CDTF">2025-12-13T14:35:13Z</dcterms:created>
  <dcterms:modified xsi:type="dcterms:W3CDTF">2025-12-14T15:40:05Z</dcterms:modified>
</cp:coreProperties>
</file>